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50" r:id="rId4"/>
  </p:sldMasterIdLst>
  <p:notesMasterIdLst>
    <p:notesMasterId r:id="rId32"/>
  </p:notesMasterIdLst>
  <p:handoutMasterIdLst>
    <p:handoutMasterId r:id="rId33"/>
  </p:handoutMasterIdLst>
  <p:sldIdLst>
    <p:sldId id="296" r:id="rId5"/>
    <p:sldId id="297" r:id="rId6"/>
    <p:sldId id="274" r:id="rId7"/>
    <p:sldId id="271" r:id="rId8"/>
    <p:sldId id="307" r:id="rId9"/>
    <p:sldId id="306" r:id="rId10"/>
    <p:sldId id="313" r:id="rId11"/>
    <p:sldId id="302" r:id="rId12"/>
    <p:sldId id="269" r:id="rId13"/>
    <p:sldId id="280" r:id="rId14"/>
    <p:sldId id="298" r:id="rId15"/>
    <p:sldId id="308" r:id="rId16"/>
    <p:sldId id="309" r:id="rId17"/>
    <p:sldId id="310" r:id="rId18"/>
    <p:sldId id="311" r:id="rId19"/>
    <p:sldId id="303" r:id="rId20"/>
    <p:sldId id="300" r:id="rId21"/>
    <p:sldId id="294" r:id="rId22"/>
    <p:sldId id="270" r:id="rId23"/>
    <p:sldId id="314" r:id="rId24"/>
    <p:sldId id="282" r:id="rId25"/>
    <p:sldId id="283" r:id="rId26"/>
    <p:sldId id="284" r:id="rId27"/>
    <p:sldId id="285" r:id="rId28"/>
    <p:sldId id="287" r:id="rId29"/>
    <p:sldId id="288" r:id="rId30"/>
    <p:sldId id="286" r:id="rId31"/>
  </p:sldIdLst>
  <p:sldSz cx="9144000" cy="6858000" type="screen4x3"/>
  <p:notesSz cx="6797675" cy="9926638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301"/>
    <a:srgbClr val="CCEE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82" autoAdjust="0"/>
    <p:restoredTop sz="94670" autoAdjust="0"/>
  </p:normalViewPr>
  <p:slideViewPr>
    <p:cSldViewPr>
      <p:cViewPr varScale="1">
        <p:scale>
          <a:sx n="99" d="100"/>
          <a:sy n="99" d="100"/>
        </p:scale>
        <p:origin x="138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3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3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45A84E-8D53-4A8D-A36D-9144D4C546B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428710"/>
            <a:ext cx="2946400" cy="4963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49688" y="9428710"/>
            <a:ext cx="2946400" cy="4963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F7E89B-54E6-45B2-BC98-90D532EEDD3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0445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63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5" y="0"/>
            <a:ext cx="2945659" cy="4963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C2FD8E07-17E3-4AE2-9DEC-0E8EB45B27F5}" type="datetimeFigureOut">
              <a:rPr lang="en-US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6125"/>
            <a:ext cx="495935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15154"/>
            <a:ext cx="5438140" cy="4466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428583"/>
            <a:ext cx="2945659" cy="4963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5" y="9428583"/>
            <a:ext cx="2945659" cy="4963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8BF7C4EB-DE0E-42A2-A213-580E022D1C26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015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BBFE55E-BBDB-4870-A0FE-38D8D37AC5F7}" type="slidenum">
              <a:rPr lang="es-ES"/>
              <a:pPr/>
              <a:t>9</a:t>
            </a:fld>
            <a:endParaRPr lang="es-ES"/>
          </a:p>
        </p:txBody>
      </p:sp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06357" y="4715154"/>
            <a:ext cx="4984962" cy="446698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BBFE55E-BBDB-4870-A0FE-38D8D37AC5F7}" type="slidenum">
              <a:rPr lang="es-ES"/>
              <a:pPr/>
              <a:t>10</a:t>
            </a:fld>
            <a:endParaRPr lang="es-ES"/>
          </a:p>
        </p:txBody>
      </p:sp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06357" y="4715154"/>
            <a:ext cx="4984962" cy="446698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Título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9" name="8 Subtítulo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/>
              <a:t>Haga clic para modificar el estilo de subtítulo del patrón</a:t>
            </a:r>
            <a:endParaRPr kumimoji="0" lang="en-US"/>
          </a:p>
        </p:txBody>
      </p:sp>
      <p:sp>
        <p:nvSpPr>
          <p:cNvPr id="28" name="27 Marcador de fecha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>
              <a:defRPr/>
            </a:pPr>
            <a:fld id="{4535C112-1C1E-4E7D-971C-EC57DA7606C6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17" name="16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" name="28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pPr>
              <a:defRPr/>
            </a:pPr>
            <a:fld id="{B840AC80-7936-43FB-991C-510AC3FF04C0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21" name="20 Rectángulo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32 Rectángulo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21 Rectángulo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31 Rectángulo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100AABD-07F0-4E6D-949D-EFFB33B6C197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7A9F8C-0EF4-488C-BA18-EA212D49FCFE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8" name="7 Marcador de contenido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>
              <a:defRPr/>
            </a:pPr>
            <a:fld id="{5322F3FC-6D4F-4961-B133-AF7DCC495CAA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pPr>
              <a:defRPr/>
            </a:pPr>
            <a:fld id="{1FA2AFAC-28DA-4966-A823-378373FEB365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7" name="6 Rectángulo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7 Rectángulo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13170A-2925-4D47-BB94-21440FE29158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DF804B9-228F-4CEC-BEC6-D6D408DDD4D9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9" name="8 Marcador de contenido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11" name="10 Marcador de contenido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72C5228-A50E-49B7-ACD0-27FB0497B88F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A9B073-5880-4E09-AEEA-59A1A9F555A4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11" name="10 Marcador de contenido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13" name="12 Marcador de contenido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D9962D0-FFA1-4976-904D-980D8BA902B4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98BAB42-7988-49CF-B80F-496DC0986772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6" name="5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2A85265-DE67-4F9F-919E-36C088682D52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CABB6C-E06E-470A-80BD-494DE181E27F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5" name="4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5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B27ED6E-8465-4C4C-B72A-8F9EEA409536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EFB1866-8CBC-4C3C-93FD-982CBEDECB2D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8" name="7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9 Conector recto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8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11 Marcador de contenido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s-ES"/>
              <a:t>Haga clic en el icono para agregar una imagen</a:t>
            </a:r>
            <a:endParaRPr kumimoji="0" lang="en-US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F24282C-789D-4661-8BAF-2500E4AC851D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D36B27-8B25-4500-AC2A-10F8DD062AA2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8" name="7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8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9 Rectángulo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F90A5B3-6E71-4C6A-A179-D5EFD850DAC2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76CEF4-CE9A-4F79-80C4-D13E1CD4962E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D5028C4-BDA6-425A-8CD0-CC11084024A7}" type="datetimeFigureOut">
              <a:rPr lang="en-US" smtClean="0"/>
              <a:pPr>
                <a:defRPr/>
              </a:pPr>
              <a:t>2/17/2026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0005B15-211C-4DFB-B834-D18AF8F139C1}" type="slidenum">
              <a:rPr lang="en-US" smtClean="0"/>
              <a:pPr>
                <a:defRPr/>
              </a:pPr>
              <a:t>‹Nº›</a:t>
            </a:fld>
            <a:endParaRPr lang="en-US"/>
          </a:p>
        </p:txBody>
      </p:sp>
      <p:sp>
        <p:nvSpPr>
          <p:cNvPr id="7" name="6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7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8 Conector recto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21 Marcador de título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13" name="12 Marcador de texto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  <a:p>
            <a:pPr lvl="1" eaLnBrk="1" latinLnBrk="0" hangingPunct="1"/>
            <a:r>
              <a:rPr kumimoji="0" lang="es-ES"/>
              <a:t>Segundo nivel</a:t>
            </a:r>
          </a:p>
          <a:p>
            <a:pPr lvl="2" eaLnBrk="1" latinLnBrk="0" hangingPunct="1"/>
            <a:r>
              <a:rPr kumimoji="0" lang="es-ES"/>
              <a:t>Tercer nivel</a:t>
            </a:r>
          </a:p>
          <a:p>
            <a:pPr lvl="3" eaLnBrk="1" latinLnBrk="0" hangingPunct="1"/>
            <a:r>
              <a:rPr kumimoji="0" lang="es-ES"/>
              <a:t>Cuarto nivel</a:t>
            </a:r>
          </a:p>
          <a:p>
            <a:pPr lvl="4" eaLnBrk="1" latinLnBrk="0" hangingPunct="1"/>
            <a:r>
              <a:rPr kumimoji="0" lang="es-ES"/>
              <a:t>Quinto nivel</a:t>
            </a:r>
            <a:endParaRPr kumimoji="0" lang="en-US"/>
          </a:p>
        </p:txBody>
      </p:sp>
      <p:sp>
        <p:nvSpPr>
          <p:cNvPr id="14" name="13 Marcador de fecha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F9720487-2811-43F5-A35E-F31A9C44A79E}" type="datetimeFigureOut">
              <a:rPr lang="en-US" smtClean="0"/>
              <a:pPr>
                <a:defRPr/>
              </a:pPr>
              <a:t>2/17/2026</a:t>
            </a:fld>
            <a:endParaRPr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" name="22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4CE3832E-8678-4D11-8F15-A6D7D413D718}" type="slidenum">
              <a:rPr lang="en-US" smtClean="0"/>
              <a:pPr>
                <a:defRPr/>
              </a:pPr>
              <a:t>‹Nº›</a:t>
            </a:fld>
            <a:endParaRPr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28" name="27 Conector recto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28 Conector recto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9 Triángulo isósceles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eii.cv.uma.es/course/view.php?id=5927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casium.uma.es/calendario?A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asium.uma.es/calendario?B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Título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ES_tradnl" dirty="0">
                <a:latin typeface="Arial Narrow" panose="020B0606020202030204" pitchFamily="34" charset="0"/>
              </a:rPr>
              <a:t>Fundamentos de Computadores</a:t>
            </a:r>
            <a:br>
              <a:rPr lang="es-ES_tradnl" dirty="0">
                <a:latin typeface="Arial Narrow" panose="020B0606020202030204" pitchFamily="34" charset="0"/>
              </a:rPr>
            </a:br>
            <a:r>
              <a:rPr lang="es-ES_tradnl" dirty="0">
                <a:latin typeface="Arial Narrow" panose="020B0606020202030204" pitchFamily="34" charset="0"/>
              </a:rPr>
              <a:t>Grado en Ingeniería en Tecnologías Industriales</a:t>
            </a:r>
            <a:endParaRPr lang="es-ES" dirty="0">
              <a:latin typeface="Arial Narrow" panose="020B0606020202030204" pitchFamily="34" charset="0"/>
            </a:endParaRPr>
          </a:p>
        </p:txBody>
      </p:sp>
      <p:sp>
        <p:nvSpPr>
          <p:cNvPr id="4" name="3 Subtítulo"/>
          <p:cNvSpPr>
            <a:spLocks noGrp="1"/>
          </p:cNvSpPr>
          <p:nvPr>
            <p:ph type="subTitle" idx="1"/>
          </p:nvPr>
        </p:nvSpPr>
        <p:spPr>
          <a:xfrm>
            <a:off x="1219200" y="5013176"/>
            <a:ext cx="6858000" cy="680814"/>
          </a:xfrm>
        </p:spPr>
        <p:txBody>
          <a:bodyPr>
            <a:noAutofit/>
          </a:bodyPr>
          <a:lstStyle/>
          <a:p>
            <a:r>
              <a:rPr lang="es-ES_tradnl" sz="1800" b="1" dirty="0">
                <a:latin typeface="Arial Narrow" panose="020B0606020202030204" pitchFamily="34" charset="0"/>
              </a:rPr>
              <a:t>Luis Felipe Romero Gómez </a:t>
            </a:r>
            <a:r>
              <a:rPr lang="es-ES_tradnl" sz="1800" dirty="0">
                <a:latin typeface="Arial Narrow" panose="020B0606020202030204" pitchFamily="34" charset="0"/>
              </a:rPr>
              <a:t>, </a:t>
            </a:r>
          </a:p>
          <a:p>
            <a:r>
              <a:rPr lang="es-ES_tradnl" sz="1800" dirty="0">
                <a:latin typeface="Arial Narrow" panose="020B0606020202030204" pitchFamily="34" charset="0"/>
              </a:rPr>
              <a:t>Mario </a:t>
            </a:r>
            <a:r>
              <a:rPr lang="es-ES_tradnl" sz="1800" dirty="0" err="1">
                <a:latin typeface="Arial Narrow" panose="020B0606020202030204" pitchFamily="34" charset="0"/>
              </a:rPr>
              <a:t>Glez</a:t>
            </a:r>
            <a:r>
              <a:rPr lang="es-ES_tradnl" sz="1800" dirty="0">
                <a:latin typeface="Arial Narrow" panose="020B0606020202030204" pitchFamily="34" charset="0"/>
              </a:rPr>
              <a:t> Peñalver, Gerardo Bandera, Francisco Castro</a:t>
            </a:r>
          </a:p>
          <a:p>
            <a:endParaRPr lang="es-ES_tradnl" sz="18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3544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Datos 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 fontScale="92500" lnSpcReduction="10000"/>
          </a:bodyPr>
          <a:lstStyle/>
          <a:p>
            <a:r>
              <a:rPr lang="es-ES" dirty="0">
                <a:hlinkClick r:id="rId2"/>
              </a:rPr>
              <a:t>https://eii.cv.uma.es/course/view.php?id=5927</a:t>
            </a:r>
            <a:endParaRPr lang="es-ES" dirty="0"/>
          </a:p>
          <a:p>
            <a:r>
              <a:rPr lang="es-ES" dirty="0"/>
              <a:t>https://github.com/luisfromero/fucomp</a:t>
            </a:r>
          </a:p>
          <a:p>
            <a:r>
              <a:rPr lang="es-ES_tradnl" dirty="0"/>
              <a:t>Clave de invitado: *******</a:t>
            </a:r>
          </a:p>
          <a:p>
            <a:r>
              <a:rPr lang="es-ES_tradnl" dirty="0">
                <a:hlinkClick r:id="" action="ppaction://noaction"/>
              </a:rPr>
              <a:t>Contacto</a:t>
            </a:r>
          </a:p>
          <a:p>
            <a:pPr lvl="1"/>
            <a:r>
              <a:rPr lang="es-ES_tradnl" dirty="0">
                <a:hlinkClick r:id="" action="ppaction://noaction"/>
              </a:rPr>
              <a:t>felipe@uma.es</a:t>
            </a:r>
            <a:r>
              <a:rPr lang="es-ES_tradnl" dirty="0"/>
              <a:t> </a:t>
            </a:r>
            <a:r>
              <a:rPr lang="en-US" dirty="0"/>
              <a:t>9521</a:t>
            </a:r>
            <a:r>
              <a:rPr lang="es-ES_tradnl" dirty="0"/>
              <a:t>34169, 6563582??</a:t>
            </a:r>
          </a:p>
          <a:p>
            <a:r>
              <a:rPr lang="es-ES_tradnl" dirty="0"/>
              <a:t>Ubicación</a:t>
            </a:r>
          </a:p>
          <a:p>
            <a:pPr lvl="1"/>
            <a:r>
              <a:rPr lang="es-ES_tradnl" dirty="0"/>
              <a:t>ETSI Informática 2.2.47, E.I. Industriales 1518 (Luis Felipe Romero)</a:t>
            </a:r>
          </a:p>
          <a:p>
            <a:r>
              <a:rPr lang="es-ES_tradnl" dirty="0"/>
              <a:t>Objetivo del Tema 0: Facilitar información práctica</a:t>
            </a:r>
          </a:p>
          <a:p>
            <a:pPr lvl="1"/>
            <a:r>
              <a:rPr lang="es-ES_tradnl" dirty="0"/>
              <a:t>Sobre el profesor y el departamento (</a:t>
            </a:r>
            <a:r>
              <a:rPr lang="es-ES_tradnl" dirty="0" err="1"/>
              <a:t>ArqCom</a:t>
            </a:r>
            <a:r>
              <a:rPr lang="es-ES_tradnl" dirty="0"/>
              <a:t>)</a:t>
            </a:r>
          </a:p>
          <a:p>
            <a:pPr lvl="1"/>
            <a:r>
              <a:rPr lang="es-ES_tradnl" dirty="0"/>
              <a:t>Sobre las clases de teoría y las prácticas</a:t>
            </a:r>
          </a:p>
          <a:p>
            <a:pPr lvl="1"/>
            <a:r>
              <a:rPr lang="es-ES_tradnl" dirty="0"/>
              <a:t>Sobre la evaluación y los exámenes</a:t>
            </a:r>
          </a:p>
          <a:p>
            <a:pPr lvl="1"/>
            <a:r>
              <a:rPr lang="es-ES_tradnl" dirty="0"/>
              <a:t>Sobre la asignatura</a:t>
            </a:r>
          </a:p>
          <a:p>
            <a:endParaRPr lang="es-ES" dirty="0"/>
          </a:p>
        </p:txBody>
      </p:sp>
      <p:pic>
        <p:nvPicPr>
          <p:cNvPr id="1026" name="Picture 2" descr="Resultado de imagen de whatsapp small  icon">
            <a:extLst>
              <a:ext uri="{FF2B5EF4-FFF2-40B4-BE49-F238E27FC236}">
                <a16:creationId xmlns:a16="http://schemas.microsoft.com/office/drawing/2014/main" id="{0D018883-A13D-4844-B92C-544891A7B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2492896"/>
            <a:ext cx="432048" cy="432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3925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Temario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/>
              <a:t>Tema 1 Introducción.</a:t>
            </a:r>
          </a:p>
          <a:p>
            <a:pPr lvl="1"/>
            <a:r>
              <a:rPr lang="es-ES" dirty="0"/>
              <a:t>Introducción a los computadores. Arquitectura de Von Neumann. Antecedentes históricos. Generaciones de computadores. Niveles de descripción.</a:t>
            </a:r>
          </a:p>
          <a:p>
            <a:r>
              <a:rPr lang="es-ES" dirty="0"/>
              <a:t>Tema 2 Representación de la información.</a:t>
            </a:r>
          </a:p>
          <a:p>
            <a:pPr lvl="1"/>
            <a:r>
              <a:rPr lang="es-ES" dirty="0"/>
              <a:t>Clasificación de la información. Representación de los datos.  Arquitectura del juego de instrucciones. Modos de direccionamiento.</a:t>
            </a:r>
          </a:p>
          <a:p>
            <a:r>
              <a:rPr lang="es-ES" dirty="0"/>
              <a:t>Tema 3 Estructura Básica de un Procesador.</a:t>
            </a:r>
          </a:p>
          <a:p>
            <a:pPr lvl="1"/>
            <a:r>
              <a:rPr lang="es-ES" dirty="0"/>
              <a:t>Organización del procesador. Camino de datos. Conjunto de instrucciones.  Implementación del conjunto de instrucciones. Control del procesador.</a:t>
            </a:r>
          </a:p>
          <a:p>
            <a:r>
              <a:rPr lang="es-ES" dirty="0"/>
              <a:t>Tema 4 Memorias.</a:t>
            </a:r>
          </a:p>
          <a:p>
            <a:pPr lvl="1"/>
            <a:r>
              <a:rPr lang="es-ES" dirty="0"/>
              <a:t>Jerarquía de la memoria: Principio de localidad y gestión. Estructura lógica de la memoria: memoria asociativa. Organización de la memoria principal. Memoria cache.</a:t>
            </a:r>
          </a:p>
          <a:p>
            <a:r>
              <a:rPr lang="es-ES" dirty="0"/>
              <a:t>Tema 5 Entrada/Salida.</a:t>
            </a:r>
          </a:p>
          <a:p>
            <a:pPr lvl="1"/>
            <a:r>
              <a:rPr lang="es-ES" dirty="0"/>
              <a:t>Tipos y características de los dispositivos de E/S. Mecanismo de interrupciones. Procesadores de E/S: acceso directo a memoria y canales. </a:t>
            </a:r>
          </a:p>
          <a:p>
            <a:r>
              <a:rPr lang="es-ES" dirty="0"/>
              <a:t>Tema 6 Introducción a los sistemas operativos.</a:t>
            </a:r>
          </a:p>
          <a:p>
            <a:pPr lvl="1"/>
            <a:r>
              <a:rPr lang="es-ES" dirty="0"/>
              <a:t>Funciones de un sistema operativo. Administración y planificación de procesos. Sistemas de memoria virtual.</a:t>
            </a:r>
          </a:p>
          <a:p>
            <a:r>
              <a:rPr lang="es-ES" dirty="0"/>
              <a:t>Tema 7 Aspectos avanzados.</a:t>
            </a:r>
          </a:p>
          <a:p>
            <a:pPr lvl="1"/>
            <a:r>
              <a:rPr lang="es-ES" dirty="0"/>
              <a:t>Algoritmos aritméticos. Arquitectura paralelas: </a:t>
            </a:r>
            <a:r>
              <a:rPr lang="es-ES" dirty="0" err="1"/>
              <a:t>multicore</a:t>
            </a:r>
            <a:r>
              <a:rPr lang="es-ES" dirty="0"/>
              <a:t> y </a:t>
            </a:r>
            <a:r>
              <a:rPr lang="es-ES" dirty="0" err="1"/>
              <a:t>manycore</a:t>
            </a:r>
            <a:endParaRPr lang="es-ES" dirty="0"/>
          </a:p>
          <a:p>
            <a:pPr lvl="1"/>
            <a:endParaRPr lang="es-E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ES_tradnl" sz="3600" dirty="0">
                <a:latin typeface="Arial Narrow" panose="020B0606020202030204" pitchFamily="34" charset="0"/>
              </a:rPr>
              <a:t>Organización en 4 bloques temáticos</a:t>
            </a:r>
            <a:endParaRPr lang="es-ES" sz="3600" dirty="0">
              <a:latin typeface="Arial Narrow" panose="020B0606020202030204" pitchFamily="34" charset="0"/>
            </a:endParaRPr>
          </a:p>
        </p:txBody>
      </p:sp>
      <p:sp>
        <p:nvSpPr>
          <p:cNvPr id="2067" name="Line 19"/>
          <p:cNvSpPr>
            <a:spLocks noChangeShapeType="1"/>
          </p:cNvSpPr>
          <p:nvPr/>
        </p:nvSpPr>
        <p:spPr bwMode="auto">
          <a:xfrm flipH="1">
            <a:off x="1520768" y="2232998"/>
            <a:ext cx="1288280" cy="231493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52" name="Text Box 4"/>
          <p:cNvSpPr txBox="1">
            <a:spLocks noChangeArrowheads="1"/>
          </p:cNvSpPr>
          <p:nvPr/>
        </p:nvSpPr>
        <p:spPr bwMode="auto">
          <a:xfrm>
            <a:off x="730603" y="4547938"/>
            <a:ext cx="1470616" cy="958223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>
              <a:lnSpc>
                <a:spcPct val="90000"/>
              </a:lnSpc>
              <a:spcAft>
                <a:spcPts val="600"/>
              </a:spcAft>
            </a:pPr>
            <a:r>
              <a:rPr lang="es-ES_tradnl" sz="1400" dirty="0"/>
              <a:t>Tema 7</a:t>
            </a:r>
          </a:p>
          <a:p>
            <a:pPr algn="ctr" eaLnBrk="0" hangingPunct="0">
              <a:lnSpc>
                <a:spcPct val="80000"/>
              </a:lnSpc>
              <a:spcAft>
                <a:spcPts val="600"/>
              </a:spcAft>
            </a:pPr>
            <a:r>
              <a:rPr lang="es-ES" sz="1400" dirty="0"/>
              <a:t>Algoritmos aritméticos.</a:t>
            </a:r>
          </a:p>
          <a:p>
            <a:pPr algn="ctr" eaLnBrk="0" hangingPunct="0">
              <a:lnSpc>
                <a:spcPct val="80000"/>
              </a:lnSpc>
              <a:spcAft>
                <a:spcPts val="600"/>
              </a:spcAft>
            </a:pPr>
            <a:r>
              <a:rPr lang="es-ES" sz="1400" dirty="0"/>
              <a:t>Multicore</a:t>
            </a:r>
          </a:p>
        </p:txBody>
      </p:sp>
      <p:sp>
        <p:nvSpPr>
          <p:cNvPr id="2053" name="Text Box 5"/>
          <p:cNvSpPr txBox="1">
            <a:spLocks noChangeArrowheads="1"/>
          </p:cNvSpPr>
          <p:nvPr/>
        </p:nvSpPr>
        <p:spPr bwMode="auto">
          <a:xfrm>
            <a:off x="5750279" y="3226059"/>
            <a:ext cx="1177003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_tradnl" sz="1400" dirty="0"/>
              <a:t>Tema 4</a:t>
            </a:r>
          </a:p>
          <a:p>
            <a:pPr algn="ctr" eaLnBrk="0" hangingPunct="0"/>
            <a:r>
              <a:rPr lang="es-ES" sz="1400" dirty="0"/>
              <a:t> Memorias</a:t>
            </a:r>
          </a:p>
        </p:txBody>
      </p:sp>
      <p:sp>
        <p:nvSpPr>
          <p:cNvPr id="2054" name="Text Box 6"/>
          <p:cNvSpPr txBox="1">
            <a:spLocks noChangeArrowheads="1"/>
          </p:cNvSpPr>
          <p:nvPr/>
        </p:nvSpPr>
        <p:spPr bwMode="auto">
          <a:xfrm>
            <a:off x="5750279" y="4990539"/>
            <a:ext cx="1177003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_tradnl" sz="1400" dirty="0"/>
              <a:t>Tema 5</a:t>
            </a:r>
          </a:p>
          <a:p>
            <a:pPr algn="ctr" eaLnBrk="0" hangingPunct="0"/>
            <a:r>
              <a:rPr lang="es-ES" sz="1400" dirty="0"/>
              <a:t>E</a:t>
            </a:r>
            <a:r>
              <a:rPr lang="es-ES_tradnl" sz="1400" dirty="0" err="1"/>
              <a:t>ntrada</a:t>
            </a:r>
            <a:r>
              <a:rPr lang="es-ES" sz="1400" dirty="0"/>
              <a:t>/</a:t>
            </a:r>
            <a:endParaRPr lang="es-ES_tradnl" sz="1400" dirty="0"/>
          </a:p>
          <a:p>
            <a:pPr algn="ctr" eaLnBrk="0" hangingPunct="0"/>
            <a:r>
              <a:rPr lang="es-ES" sz="1400" dirty="0"/>
              <a:t>S</a:t>
            </a:r>
            <a:r>
              <a:rPr lang="es-ES_tradnl" sz="1400" dirty="0" err="1"/>
              <a:t>alida</a:t>
            </a:r>
            <a:endParaRPr lang="es-ES" sz="1400" dirty="0"/>
          </a:p>
        </p:txBody>
      </p:sp>
      <p:sp>
        <p:nvSpPr>
          <p:cNvPr id="2055" name="Text Box 7"/>
          <p:cNvSpPr txBox="1">
            <a:spLocks noChangeArrowheads="1"/>
          </p:cNvSpPr>
          <p:nvPr/>
        </p:nvSpPr>
        <p:spPr bwMode="auto">
          <a:xfrm>
            <a:off x="7517061" y="4990539"/>
            <a:ext cx="1174450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/>
              <a:t>Tema 6 </a:t>
            </a:r>
            <a:endParaRPr lang="es-ES_tradnl" sz="1400" dirty="0"/>
          </a:p>
          <a:p>
            <a:pPr algn="ctr" eaLnBrk="0" hangingPunct="0"/>
            <a:r>
              <a:rPr lang="es-ES" sz="1400" dirty="0"/>
              <a:t>Sistema operativo</a:t>
            </a:r>
          </a:p>
        </p:txBody>
      </p:sp>
      <p:sp>
        <p:nvSpPr>
          <p:cNvPr id="2056" name="Text Box 8"/>
          <p:cNvSpPr txBox="1">
            <a:spLocks noChangeArrowheads="1"/>
          </p:cNvSpPr>
          <p:nvPr/>
        </p:nvSpPr>
        <p:spPr bwMode="auto">
          <a:xfrm>
            <a:off x="3692438" y="3226059"/>
            <a:ext cx="1618699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_tradnl" sz="1400" dirty="0"/>
              <a:t>Tema 2 b</a:t>
            </a:r>
          </a:p>
          <a:p>
            <a:pPr algn="ctr" eaLnBrk="0" hangingPunct="0"/>
            <a:r>
              <a:rPr lang="es-ES" sz="1400" dirty="0"/>
              <a:t> Juego de instrucciones</a:t>
            </a:r>
          </a:p>
        </p:txBody>
      </p:sp>
      <p:sp>
        <p:nvSpPr>
          <p:cNvPr id="2057" name="Text Box 9"/>
          <p:cNvSpPr txBox="1">
            <a:spLocks noChangeArrowheads="1"/>
          </p:cNvSpPr>
          <p:nvPr/>
        </p:nvSpPr>
        <p:spPr bwMode="auto">
          <a:xfrm>
            <a:off x="2367352" y="1568081"/>
            <a:ext cx="1764228" cy="66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/>
              <a:t>Tema 2 a</a:t>
            </a:r>
            <a:endParaRPr lang="es-ES_tradnl" sz="1400" dirty="0"/>
          </a:p>
          <a:p>
            <a:pPr algn="ctr" eaLnBrk="0" hangingPunct="0"/>
            <a:r>
              <a:rPr lang="es-ES" sz="1400" dirty="0"/>
              <a:t>Representación de </a:t>
            </a:r>
            <a:r>
              <a:rPr lang="es-ES_tradnl" sz="1400" dirty="0"/>
              <a:t>la </a:t>
            </a:r>
            <a:r>
              <a:rPr lang="es-ES" sz="1400" dirty="0"/>
              <a:t>información</a:t>
            </a:r>
          </a:p>
        </p:txBody>
      </p:sp>
      <p:sp>
        <p:nvSpPr>
          <p:cNvPr id="2058" name="Text Box 10"/>
          <p:cNvSpPr txBox="1">
            <a:spLocks noChangeArrowheads="1"/>
          </p:cNvSpPr>
          <p:nvPr/>
        </p:nvSpPr>
        <p:spPr bwMode="auto">
          <a:xfrm>
            <a:off x="1044819" y="3007298"/>
            <a:ext cx="1764228" cy="76854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>
              <a:spcAft>
                <a:spcPts val="600"/>
              </a:spcAft>
            </a:pPr>
            <a:r>
              <a:rPr lang="es-ES_tradnl" sz="1400" dirty="0"/>
              <a:t>Tema 1</a:t>
            </a:r>
          </a:p>
          <a:p>
            <a:pPr algn="ctr" eaLnBrk="0" hangingPunct="0">
              <a:spcAft>
                <a:spcPts val="600"/>
              </a:spcAft>
            </a:pPr>
            <a:r>
              <a:rPr lang="es-ES" sz="1400" dirty="0"/>
              <a:t> Introducción a la CPU</a:t>
            </a:r>
          </a:p>
        </p:txBody>
      </p:sp>
      <p:sp>
        <p:nvSpPr>
          <p:cNvPr id="2060" name="Text Box 12"/>
          <p:cNvSpPr txBox="1">
            <a:spLocks noChangeArrowheads="1"/>
          </p:cNvSpPr>
          <p:nvPr/>
        </p:nvSpPr>
        <p:spPr bwMode="auto">
          <a:xfrm>
            <a:off x="1926933" y="4990539"/>
            <a:ext cx="2645067" cy="6620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>
              <a:spcAft>
                <a:spcPts val="600"/>
              </a:spcAft>
            </a:pPr>
            <a:r>
              <a:rPr lang="es-ES" sz="1400" dirty="0"/>
              <a:t>Temas 3</a:t>
            </a:r>
            <a:endParaRPr lang="es-ES_tradnl" sz="1400" dirty="0"/>
          </a:p>
          <a:p>
            <a:pPr algn="ctr" eaLnBrk="0" hangingPunct="0">
              <a:spcAft>
                <a:spcPts val="600"/>
              </a:spcAft>
            </a:pPr>
            <a:r>
              <a:rPr lang="es-ES" sz="1400" dirty="0"/>
              <a:t>CPU</a:t>
            </a:r>
          </a:p>
        </p:txBody>
      </p:sp>
      <p:sp>
        <p:nvSpPr>
          <p:cNvPr id="2061" name="Line 13"/>
          <p:cNvSpPr>
            <a:spLocks noChangeShapeType="1"/>
          </p:cNvSpPr>
          <p:nvPr/>
        </p:nvSpPr>
        <p:spPr bwMode="auto">
          <a:xfrm flipH="1">
            <a:off x="2367352" y="3775840"/>
            <a:ext cx="12766" cy="12146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3" name="Line 15"/>
          <p:cNvSpPr>
            <a:spLocks noChangeShapeType="1"/>
          </p:cNvSpPr>
          <p:nvPr/>
        </p:nvSpPr>
        <p:spPr bwMode="auto">
          <a:xfrm>
            <a:off x="4427746" y="3942789"/>
            <a:ext cx="0" cy="99306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4" name="Line 16"/>
          <p:cNvSpPr>
            <a:spLocks noChangeShapeType="1"/>
          </p:cNvSpPr>
          <p:nvPr/>
        </p:nvSpPr>
        <p:spPr bwMode="auto">
          <a:xfrm>
            <a:off x="4572000" y="5347465"/>
            <a:ext cx="1178279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5" name="Line 17"/>
          <p:cNvSpPr>
            <a:spLocks noChangeShapeType="1"/>
          </p:cNvSpPr>
          <p:nvPr/>
        </p:nvSpPr>
        <p:spPr bwMode="auto">
          <a:xfrm>
            <a:off x="6340058" y="3942789"/>
            <a:ext cx="0" cy="99306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6" name="Line 18"/>
          <p:cNvSpPr>
            <a:spLocks noChangeShapeType="1"/>
          </p:cNvSpPr>
          <p:nvPr/>
        </p:nvSpPr>
        <p:spPr bwMode="auto">
          <a:xfrm>
            <a:off x="6927283" y="5347465"/>
            <a:ext cx="589778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68" name="Line 20"/>
          <p:cNvSpPr>
            <a:spLocks noChangeShapeType="1"/>
          </p:cNvSpPr>
          <p:nvPr/>
        </p:nvSpPr>
        <p:spPr bwMode="auto">
          <a:xfrm>
            <a:off x="3692438" y="2232999"/>
            <a:ext cx="735308" cy="99306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70" name="Line 22"/>
          <p:cNvSpPr>
            <a:spLocks noChangeShapeType="1"/>
          </p:cNvSpPr>
          <p:nvPr/>
        </p:nvSpPr>
        <p:spPr bwMode="auto">
          <a:xfrm flipH="1">
            <a:off x="5014971" y="3870828"/>
            <a:ext cx="735308" cy="993060"/>
          </a:xfrm>
          <a:prstGeom prst="line">
            <a:avLst/>
          </a:prstGeom>
          <a:noFill/>
          <a:ln w="9525">
            <a:solidFill>
              <a:srgbClr val="C0C0C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071" name="Line 23"/>
          <p:cNvSpPr>
            <a:spLocks noChangeShapeType="1"/>
          </p:cNvSpPr>
          <p:nvPr/>
        </p:nvSpPr>
        <p:spPr bwMode="auto">
          <a:xfrm>
            <a:off x="2809047" y="3646310"/>
            <a:ext cx="883391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Box 5"/>
          <p:cNvSpPr txBox="1">
            <a:spLocks noChangeArrowheads="1"/>
          </p:cNvSpPr>
          <p:nvPr/>
        </p:nvSpPr>
        <p:spPr bwMode="auto">
          <a:xfrm>
            <a:off x="6350270" y="2391313"/>
            <a:ext cx="1177003" cy="339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>
                <a:solidFill>
                  <a:srgbClr val="FF0000"/>
                </a:solidFill>
              </a:rPr>
              <a:t>MEMORIA</a:t>
            </a:r>
          </a:p>
        </p:txBody>
      </p:sp>
      <p:sp>
        <p:nvSpPr>
          <p:cNvPr id="29" name="Text Box 5"/>
          <p:cNvSpPr txBox="1">
            <a:spLocks noChangeArrowheads="1"/>
          </p:cNvSpPr>
          <p:nvPr/>
        </p:nvSpPr>
        <p:spPr bwMode="auto">
          <a:xfrm>
            <a:off x="7379191" y="4057926"/>
            <a:ext cx="1442531" cy="339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>
                <a:solidFill>
                  <a:srgbClr val="FF0000"/>
                </a:solidFill>
              </a:rPr>
              <a:t>COMPUTADOR</a:t>
            </a:r>
          </a:p>
        </p:txBody>
      </p:sp>
      <p:sp>
        <p:nvSpPr>
          <p:cNvPr id="30" name="Text Box 5"/>
          <p:cNvSpPr txBox="1">
            <a:spLocks noChangeArrowheads="1"/>
          </p:cNvSpPr>
          <p:nvPr/>
        </p:nvSpPr>
        <p:spPr bwMode="auto">
          <a:xfrm>
            <a:off x="2089058" y="5923152"/>
            <a:ext cx="1442531" cy="339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>
                <a:solidFill>
                  <a:srgbClr val="FF0000"/>
                </a:solidFill>
              </a:rPr>
              <a:t>CPU</a:t>
            </a:r>
          </a:p>
        </p:txBody>
      </p:sp>
      <p:sp>
        <p:nvSpPr>
          <p:cNvPr id="31" name="Text Box 5"/>
          <p:cNvSpPr txBox="1">
            <a:spLocks noChangeArrowheads="1"/>
          </p:cNvSpPr>
          <p:nvPr/>
        </p:nvSpPr>
        <p:spPr bwMode="auto">
          <a:xfrm>
            <a:off x="4660083" y="1729273"/>
            <a:ext cx="1927630" cy="339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18000" tIns="10800" rIns="18000" bIns="10800"/>
          <a:lstStyle/>
          <a:p>
            <a:pPr algn="ctr" eaLnBrk="0" hangingPunct="0"/>
            <a:r>
              <a:rPr lang="es-ES" sz="1400" dirty="0">
                <a:solidFill>
                  <a:srgbClr val="FF0000"/>
                </a:solidFill>
              </a:rPr>
              <a:t>REPRESENTACIÓN</a:t>
            </a:r>
          </a:p>
        </p:txBody>
      </p:sp>
      <p:sp>
        <p:nvSpPr>
          <p:cNvPr id="3" name="2 Elipse"/>
          <p:cNvSpPr/>
          <p:nvPr/>
        </p:nvSpPr>
        <p:spPr>
          <a:xfrm rot="2565566">
            <a:off x="1832413" y="1693736"/>
            <a:ext cx="3792206" cy="194180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24 Elipse"/>
          <p:cNvSpPr/>
          <p:nvPr/>
        </p:nvSpPr>
        <p:spPr>
          <a:xfrm>
            <a:off x="5366632" y="2756615"/>
            <a:ext cx="2255847" cy="12241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25 Elipse"/>
          <p:cNvSpPr/>
          <p:nvPr/>
        </p:nvSpPr>
        <p:spPr>
          <a:xfrm>
            <a:off x="5245221" y="4321516"/>
            <a:ext cx="3791275" cy="177178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26 Elipse"/>
          <p:cNvSpPr/>
          <p:nvPr/>
        </p:nvSpPr>
        <p:spPr>
          <a:xfrm>
            <a:off x="35496" y="2558263"/>
            <a:ext cx="5488082" cy="397560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latin typeface="Malacitana" panose="00000500000000000000" pitchFamily="50" charset="0"/>
              </a:rPr>
              <a:t>Lecciones</a:t>
            </a:r>
            <a:endParaRPr lang="en-GB" dirty="0">
              <a:latin typeface="Malacitana" panose="00000500000000000000" pitchFamily="50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s-ES" dirty="0">
                <a:latin typeface="Malacitana" panose="00000500000000000000" pitchFamily="50" charset="0"/>
              </a:rPr>
              <a:t>60 horas en 39/40* lecciones </a:t>
            </a:r>
          </a:p>
          <a:p>
            <a:pPr lvl="1"/>
            <a:r>
              <a:rPr lang="es-ES" dirty="0">
                <a:latin typeface="Malacitana" panose="00000500000000000000" pitchFamily="50" charset="0"/>
              </a:rPr>
              <a:t>12 lecciones en grupos </a:t>
            </a:r>
            <a:r>
              <a:rPr lang="es-ES" dirty="0" err="1">
                <a:latin typeface="Malacitana" panose="00000500000000000000" pitchFamily="50" charset="0"/>
              </a:rPr>
              <a:t>reducidos</a:t>
            </a:r>
            <a:r>
              <a:rPr lang="es-ES" dirty="0" err="1">
                <a:latin typeface="Malacitana" panose="00000500000000000000" pitchFamily="50" charset="0"/>
                <a:sym typeface="Wingdings" panose="05000000000000000000" pitchFamily="2" charset="2"/>
              </a:rPr>
              <a:t>Prácticas</a:t>
            </a:r>
            <a:endParaRPr lang="es-ES" dirty="0">
              <a:latin typeface="Malacitana" panose="00000500000000000000" pitchFamily="50" charset="0"/>
            </a:endParaRPr>
          </a:p>
          <a:p>
            <a:pPr lvl="2"/>
            <a:r>
              <a:rPr lang="es-ES" dirty="0">
                <a:latin typeface="Malacitana" panose="00000500000000000000" pitchFamily="50" charset="0"/>
              </a:rPr>
              <a:t>5 prácticas: 2+2+2+2+3, +1 examen de la práctica 5</a:t>
            </a:r>
          </a:p>
          <a:p>
            <a:pPr lvl="1"/>
            <a:r>
              <a:rPr lang="es-ES" dirty="0">
                <a:latin typeface="Malacitana" panose="00000500000000000000" pitchFamily="50" charset="0"/>
              </a:rPr>
              <a:t>25/27* lecciones en grupos grandes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2 lecciones, temas 0 y 1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6 lecciones, tema 2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test del tema 2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4 lecciones, tema 3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4 lecciones, tema 4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test del tema 4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3 lecciones, tema 5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3 lecciones, tema 6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día de repaso *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seminario *</a:t>
            </a:r>
          </a:p>
          <a:p>
            <a:pPr lvl="2"/>
            <a:r>
              <a:rPr lang="es-ES" dirty="0">
                <a:latin typeface="Malacitana" panose="00000500000000000000" pitchFamily="50" charset="0"/>
              </a:rPr>
              <a:t>1 Tutoría colectiva, ya en período de exámenes</a:t>
            </a:r>
          </a:p>
          <a:p>
            <a:pPr marL="594360" lvl="2" indent="0">
              <a:buNone/>
            </a:pPr>
            <a:endParaRPr lang="es-ES" dirty="0">
              <a:latin typeface="Malacitana" panose="00000500000000000000" pitchFamily="50" charset="0"/>
            </a:endParaRPr>
          </a:p>
          <a:p>
            <a:pPr marL="274320" lvl="1" indent="0">
              <a:buNone/>
            </a:pPr>
            <a:r>
              <a:rPr lang="es-ES" dirty="0">
                <a:latin typeface="Malacitana" panose="00000500000000000000" pitchFamily="50" charset="0"/>
              </a:rPr>
              <a:t>*(opcional, según la distribución de festivos)</a:t>
            </a:r>
          </a:p>
          <a:p>
            <a:pPr marL="274320" lvl="1" indent="0">
              <a:buNone/>
            </a:pPr>
            <a:endParaRPr lang="en-GB" dirty="0">
              <a:latin typeface="Malacitan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851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ítulo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s-ES" dirty="0">
                <a:latin typeface="Malacitana" panose="00000500000000000000" pitchFamily="50" charset="0"/>
              </a:rPr>
              <a:t>Calendario curso 24/25</a:t>
            </a:r>
            <a:endParaRPr lang="en-GB" dirty="0">
              <a:latin typeface="Malacitana" panose="00000500000000000000" pitchFamily="50" charset="0"/>
            </a:endParaRPr>
          </a:p>
        </p:txBody>
      </p:sp>
      <p:sp>
        <p:nvSpPr>
          <p:cNvPr id="26" name="Rectángulo 25"/>
          <p:cNvSpPr/>
          <p:nvPr/>
        </p:nvSpPr>
        <p:spPr>
          <a:xfrm>
            <a:off x="2771800" y="1226123"/>
            <a:ext cx="31470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u="sng" dirty="0">
                <a:solidFill>
                  <a:schemeClr val="accent2">
                    <a:lumMod val="75000"/>
                  </a:schemeClr>
                </a:solidFill>
                <a:hlinkClick r:id="rId2"/>
              </a:rPr>
              <a:t>casium.uma.es/</a:t>
            </a:r>
            <a:r>
              <a:rPr lang="en-GB" u="sng" dirty="0" err="1">
                <a:solidFill>
                  <a:schemeClr val="accent2">
                    <a:lumMod val="75000"/>
                  </a:schemeClr>
                </a:solidFill>
                <a:hlinkClick r:id="rId2"/>
              </a:rPr>
              <a:t>calendario?</a:t>
            </a:r>
            <a:r>
              <a:rPr lang="en-GB" u="sng" dirty="0" err="1">
                <a:solidFill>
                  <a:schemeClr val="accent2">
                    <a:lumMod val="75000"/>
                  </a:schemeClr>
                </a:solidFill>
              </a:rPr>
              <a:t>B</a:t>
            </a:r>
            <a:endParaRPr lang="en-GB" u="sng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CD6415D-BCDA-476B-92A7-C1DE407592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76" t="15856" r="1962" b="4409"/>
          <a:stretch/>
        </p:blipFill>
        <p:spPr>
          <a:xfrm>
            <a:off x="107504" y="1595455"/>
            <a:ext cx="8856984" cy="4281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80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ítulo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s-ES" dirty="0">
                <a:latin typeface="Malacitana" panose="00000500000000000000" pitchFamily="50" charset="0"/>
              </a:rPr>
              <a:t>Calendario curso 24/25</a:t>
            </a:r>
            <a:endParaRPr lang="en-GB" dirty="0">
              <a:latin typeface="Malacitana" panose="00000500000000000000" pitchFamily="50" charset="0"/>
            </a:endParaRPr>
          </a:p>
        </p:txBody>
      </p:sp>
      <p:sp>
        <p:nvSpPr>
          <p:cNvPr id="26" name="Rectángulo 25"/>
          <p:cNvSpPr/>
          <p:nvPr/>
        </p:nvSpPr>
        <p:spPr>
          <a:xfrm>
            <a:off x="2771800" y="1226123"/>
            <a:ext cx="31470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u="sng" dirty="0">
                <a:solidFill>
                  <a:schemeClr val="accent2">
                    <a:lumMod val="75000"/>
                  </a:schemeClr>
                </a:solidFill>
                <a:hlinkClick r:id="rId2"/>
              </a:rPr>
              <a:t>casium.uma.es/</a:t>
            </a:r>
            <a:r>
              <a:rPr lang="en-GB" u="sng" dirty="0" err="1">
                <a:solidFill>
                  <a:schemeClr val="accent2">
                    <a:lumMod val="75000"/>
                  </a:schemeClr>
                </a:solidFill>
                <a:hlinkClick r:id="rId2"/>
              </a:rPr>
              <a:t>calendario?</a:t>
            </a:r>
            <a:r>
              <a:rPr lang="en-GB" u="sng" dirty="0" err="1">
                <a:solidFill>
                  <a:schemeClr val="accent2">
                    <a:lumMod val="75000"/>
                  </a:schemeClr>
                </a:solidFill>
              </a:rPr>
              <a:t>A</a:t>
            </a:r>
            <a:endParaRPr lang="en-GB" u="sng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C07E7F5-C774-4C73-A38C-7A67D065CE1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76" t="15856" r="1962" b="4409"/>
          <a:stretch/>
        </p:blipFill>
        <p:spPr>
          <a:xfrm>
            <a:off x="107504" y="1595455"/>
            <a:ext cx="8856984" cy="4281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716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sz="quarter" idx="1"/>
          </p:nvPr>
        </p:nvSpPr>
        <p:spPr>
          <a:xfrm>
            <a:off x="235547" y="1443568"/>
            <a:ext cx="4104456" cy="4937760"/>
          </a:xfrm>
        </p:spPr>
        <p:txBody>
          <a:bodyPr>
            <a:noAutofit/>
          </a:bodyPr>
          <a:lstStyle/>
          <a:p>
            <a:pPr>
              <a:tabLst>
                <a:tab pos="538163" algn="l"/>
              </a:tabLst>
            </a:pPr>
            <a:r>
              <a:rPr lang="es-ES" sz="1500" dirty="0"/>
              <a:t>Clase 1: Introducción a la asignatura e inicio del    Tema 1 (Evolución histórica hasta ENIAC)</a:t>
            </a:r>
          </a:p>
          <a:p>
            <a:r>
              <a:rPr lang="es-ES" sz="1500" dirty="0"/>
              <a:t>Clase 2: Tema 1 (Ciclo de Instrucción, actividad de las tarjetas). 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3: Tema 2. Naturales y Enteros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4: N-2 y Flotantes (</a:t>
            </a:r>
            <a:r>
              <a:rPr lang="es-ES" sz="1500" dirty="0" err="1">
                <a:solidFill>
                  <a:srgbClr val="C00000"/>
                </a:solidFill>
              </a:rPr>
              <a:t>intro</a:t>
            </a:r>
            <a:r>
              <a:rPr lang="es-ES" sz="1500" dirty="0">
                <a:solidFill>
                  <a:srgbClr val="C00000"/>
                </a:solidFill>
              </a:rPr>
              <a:t> punto flotante)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5: Flotantes y Alfanuméricos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6: Modos de direccionamiento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7: Formato de instrucción y </a:t>
            </a:r>
            <a:r>
              <a:rPr lang="es-ES" sz="1500" dirty="0" err="1">
                <a:solidFill>
                  <a:srgbClr val="C00000"/>
                </a:solidFill>
              </a:rPr>
              <a:t>RiscV</a:t>
            </a:r>
            <a:endParaRPr lang="es-ES" sz="1500" dirty="0">
              <a:solidFill>
                <a:srgbClr val="C00000"/>
              </a:solidFill>
            </a:endParaRPr>
          </a:p>
          <a:p>
            <a:r>
              <a:rPr lang="es-ES" sz="1500" dirty="0">
                <a:solidFill>
                  <a:srgbClr val="C00000"/>
                </a:solidFill>
              </a:rPr>
              <a:t>Clase 8: Ejercicios Tema 2</a:t>
            </a:r>
            <a:r>
              <a:rPr lang="es-ES" sz="1500" dirty="0">
                <a:solidFill>
                  <a:schemeClr val="accent2">
                    <a:lumMod val="75000"/>
                  </a:schemeClr>
                </a:solidFill>
              </a:rPr>
              <a:t>. </a:t>
            </a:r>
            <a:r>
              <a:rPr lang="es-ES" sz="1500" dirty="0" err="1">
                <a:solidFill>
                  <a:schemeClr val="accent2">
                    <a:lumMod val="75000"/>
                  </a:schemeClr>
                </a:solidFill>
              </a:rPr>
              <a:t>Intro</a:t>
            </a:r>
            <a:r>
              <a:rPr lang="es-ES" sz="1500" dirty="0">
                <a:solidFill>
                  <a:schemeClr val="accent2">
                    <a:lumMod val="75000"/>
                  </a:schemeClr>
                </a:solidFill>
              </a:rPr>
              <a:t> CPU</a:t>
            </a:r>
          </a:p>
          <a:p>
            <a:r>
              <a:rPr lang="es-ES" sz="1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Clase 9: Test del Tema 2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10: Tema 3. (hasta 1ª instrucción </a:t>
            </a:r>
            <a:r>
              <a:rPr lang="es-ES" sz="1500" dirty="0" err="1">
                <a:solidFill>
                  <a:srgbClr val="0070C0"/>
                </a:solidFill>
              </a:rPr>
              <a:t>RiscV</a:t>
            </a:r>
            <a:r>
              <a:rPr lang="es-ES" sz="1500" dirty="0">
                <a:solidFill>
                  <a:srgbClr val="0070C0"/>
                </a:solidFill>
              </a:rPr>
              <a:t>)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11: Tema 3. Resto de instrucciones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12: Tema 3. Temporización, secuencia-miento, control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13: Ejercicios Tema 3</a:t>
            </a:r>
            <a:endParaRPr lang="es-ES" sz="1500" dirty="0"/>
          </a:p>
        </p:txBody>
      </p:sp>
      <p:sp>
        <p:nvSpPr>
          <p:cNvPr id="5" name="Marcador de contenido 4"/>
          <p:cNvSpPr>
            <a:spLocks noGrp="1"/>
          </p:cNvSpPr>
          <p:nvPr>
            <p:ph sz="quarter" idx="2"/>
          </p:nvPr>
        </p:nvSpPr>
        <p:spPr>
          <a:xfrm>
            <a:off x="4700042" y="1443568"/>
            <a:ext cx="4408461" cy="4937760"/>
          </a:xfrm>
        </p:spPr>
        <p:txBody>
          <a:bodyPr>
            <a:noAutofit/>
          </a:bodyPr>
          <a:lstStyle/>
          <a:p>
            <a:r>
              <a:rPr lang="es-ES" sz="1500" dirty="0">
                <a:solidFill>
                  <a:srgbClr val="0070C0"/>
                </a:solidFill>
              </a:rPr>
              <a:t>Clase 14:  Tema 4. Jerarquía y Memoria cache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15:  Tema 4. Funciones de correspondencia</a:t>
            </a:r>
          </a:p>
          <a:p>
            <a:r>
              <a:rPr lang="es-ES" sz="1500" dirty="0">
                <a:solidFill>
                  <a:srgbClr val="0070C0"/>
                </a:solidFill>
              </a:rPr>
              <a:t>Clase 16:  Tema 4. Hasta cache dividida</a:t>
            </a:r>
          </a:p>
          <a:p>
            <a:r>
              <a:rPr lang="es-ES" sz="1500" dirty="0">
                <a:solidFill>
                  <a:srgbClr val="C00000"/>
                </a:solidFill>
              </a:rPr>
              <a:t>Clase 17:  Tema 4. Dividida y multinivel</a:t>
            </a:r>
          </a:p>
          <a:p>
            <a:r>
              <a:rPr lang="es-ES" sz="15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Clase 18:  Tema 4. Test de memoria</a:t>
            </a:r>
          </a:p>
          <a:p>
            <a:r>
              <a:rPr lang="es-ES" sz="1500" dirty="0"/>
              <a:t>Clase 19:  Tema 5. Entrada y Salida</a:t>
            </a:r>
          </a:p>
          <a:p>
            <a:r>
              <a:rPr lang="es-ES" sz="1500" dirty="0"/>
              <a:t>Clase 20:  Tema 5. Entrada y Salida</a:t>
            </a:r>
          </a:p>
          <a:p>
            <a:r>
              <a:rPr lang="es-ES" sz="1500" dirty="0"/>
              <a:t>Clase 21:  Tema 5. Entrada y Salida</a:t>
            </a:r>
          </a:p>
          <a:p>
            <a:r>
              <a:rPr lang="es-ES" sz="1500" dirty="0">
                <a:solidFill>
                  <a:schemeClr val="accent3">
                    <a:lumMod val="50000"/>
                  </a:schemeClr>
                </a:solidFill>
              </a:rPr>
              <a:t>Clase 22  Tema 6. SO. CPU.</a:t>
            </a:r>
          </a:p>
          <a:p>
            <a:r>
              <a:rPr lang="es-ES" sz="1500" dirty="0">
                <a:solidFill>
                  <a:schemeClr val="accent3">
                    <a:lumMod val="50000"/>
                  </a:schemeClr>
                </a:solidFill>
              </a:rPr>
              <a:t>Clase 23  Tema 6. SO. Memoria virtual.</a:t>
            </a:r>
          </a:p>
          <a:p>
            <a:r>
              <a:rPr lang="es-ES" sz="1500" dirty="0">
                <a:solidFill>
                  <a:schemeClr val="accent3">
                    <a:lumMod val="50000"/>
                  </a:schemeClr>
                </a:solidFill>
              </a:rPr>
              <a:t>Clase 24:  Tema 6. SO Ejercicios</a:t>
            </a:r>
          </a:p>
          <a:p>
            <a:r>
              <a:rPr lang="es-ES" sz="1500" dirty="0">
                <a:solidFill>
                  <a:schemeClr val="accent2">
                    <a:lumMod val="75000"/>
                  </a:schemeClr>
                </a:solidFill>
              </a:rPr>
              <a:t>Clase 25:  Ejercicios tema 3</a:t>
            </a:r>
          </a:p>
          <a:p>
            <a:r>
              <a:rPr lang="es-ES" sz="1500" dirty="0"/>
              <a:t>Clase 26:  Realización de un ejercicio global</a:t>
            </a:r>
            <a:endParaRPr lang="es-ES" sz="1500" strike="sngStrike" dirty="0"/>
          </a:p>
          <a:p>
            <a:r>
              <a:rPr lang="es-ES" sz="1500" dirty="0"/>
              <a:t>Clase 27:  Tema 7. </a:t>
            </a:r>
            <a:r>
              <a:rPr lang="es-ES" sz="1500" dirty="0" err="1"/>
              <a:t>Multicore</a:t>
            </a:r>
            <a:r>
              <a:rPr lang="es-ES" sz="1500" dirty="0"/>
              <a:t>, Aceleradores, GPU (Seminario con grupos reducidos)</a:t>
            </a:r>
          </a:p>
          <a:p>
            <a:r>
              <a:rPr lang="es-ES" sz="1500" dirty="0"/>
              <a:t>Clase 28:  Tutoría colectiva</a:t>
            </a:r>
          </a:p>
          <a:p>
            <a:endParaRPr lang="es-ES" sz="150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s-ES_tradnl" sz="3600" dirty="0"/>
              <a:t>Lecciones magistrales 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491317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3600" dirty="0"/>
              <a:t>Prácticas </a:t>
            </a:r>
            <a:endParaRPr lang="es-ES" sz="3600" b="1" dirty="0"/>
          </a:p>
        </p:txBody>
      </p:sp>
      <p:sp>
        <p:nvSpPr>
          <p:cNvPr id="20483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685800" y="1981200"/>
            <a:ext cx="8458200" cy="4114800"/>
          </a:xfrm>
        </p:spPr>
        <p:txBody>
          <a:bodyPr>
            <a:normAutofit fontScale="70000" lnSpcReduction="20000"/>
          </a:bodyPr>
          <a:lstStyle/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Práctica 1. 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1 sesión</a:t>
            </a:r>
            <a:endParaRPr lang="es-ES_tradnl" sz="24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Codificación binaria</a:t>
            </a: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Herramienta utilizada:  Python, C, hojas de cálculo</a:t>
            </a: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 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Práctica 2. 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2 sesiones</a:t>
            </a:r>
            <a:endParaRPr lang="es-ES_tradnl" sz="24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Programación en ensamblador. Desensamblado</a:t>
            </a:r>
            <a:endParaRPr lang="es-ES_tradnl" sz="20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Herramienta utilizada: riscv.ac.uma.es</a:t>
            </a:r>
            <a:endParaRPr lang="es-ES" sz="2000" dirty="0"/>
          </a:p>
          <a:p>
            <a:pPr marL="666750" indent="0" algn="just">
              <a:buFontTx/>
              <a:buNone/>
            </a:pPr>
            <a:r>
              <a:rPr lang="es-ES" sz="2000" dirty="0"/>
              <a:t> 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Práctica 3.</a:t>
            </a:r>
          </a:p>
          <a:p>
            <a:pPr marL="666750" indent="0" algn="just">
              <a:buFontTx/>
              <a:buNone/>
            </a:pPr>
            <a:r>
              <a:rPr lang="es-ES" sz="2400" b="1" dirty="0">
                <a:cs typeface="Times New Roman" pitchFamily="18" charset="0"/>
              </a:rPr>
              <a:t>3 sesiones </a:t>
            </a:r>
            <a:endParaRPr lang="es-ES_tradnl" sz="24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Programación en ensamblador.  Ensamblador</a:t>
            </a: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Herramienta utilizada: RARS, riscv.ac.uma.es</a:t>
            </a:r>
          </a:p>
          <a:p>
            <a:pPr marL="666750" indent="0" algn="just">
              <a:buFontTx/>
              <a:buNone/>
            </a:pPr>
            <a:r>
              <a:rPr lang="es-ES" sz="2000" dirty="0">
                <a:cs typeface="Times New Roman" pitchFamily="18" charset="0"/>
              </a:rPr>
              <a:t> </a:t>
            </a:r>
          </a:p>
          <a:p>
            <a:pPr marL="666750" indent="0" algn="just">
              <a:buFontTx/>
              <a:buNone/>
            </a:pPr>
            <a:endParaRPr lang="es-ES" sz="2000" dirty="0"/>
          </a:p>
        </p:txBody>
      </p:sp>
      <p:sp>
        <p:nvSpPr>
          <p:cNvPr id="20484" name="Line 4"/>
          <p:cNvSpPr>
            <a:spLocks noChangeShapeType="1"/>
          </p:cNvSpPr>
          <p:nvPr/>
        </p:nvSpPr>
        <p:spPr bwMode="auto">
          <a:xfrm>
            <a:off x="609600" y="1524000"/>
            <a:ext cx="807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3600" dirty="0"/>
              <a:t>Prácticas</a:t>
            </a:r>
            <a:endParaRPr lang="es-ES" sz="3600" b="1" dirty="0"/>
          </a:p>
        </p:txBody>
      </p:sp>
      <p:sp>
        <p:nvSpPr>
          <p:cNvPr id="20483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685800" y="1981200"/>
            <a:ext cx="8458200" cy="4114800"/>
          </a:xfrm>
        </p:spPr>
        <p:txBody>
          <a:bodyPr>
            <a:noAutofit/>
          </a:bodyPr>
          <a:lstStyle/>
          <a:p>
            <a:pPr marL="666750" indent="0" algn="just">
              <a:buFontTx/>
              <a:buNone/>
            </a:pPr>
            <a:r>
              <a:rPr lang="es-ES" sz="1800" b="1" dirty="0">
                <a:cs typeface="Times New Roman" pitchFamily="18" charset="0"/>
              </a:rPr>
              <a:t>Práctica 4. </a:t>
            </a:r>
          </a:p>
          <a:p>
            <a:pPr marL="666750" indent="0" algn="just">
              <a:buFontTx/>
              <a:buNone/>
            </a:pPr>
            <a:r>
              <a:rPr lang="es-ES" sz="1600" b="1" dirty="0">
                <a:cs typeface="Times New Roman" pitchFamily="18" charset="0"/>
              </a:rPr>
              <a:t>3 sesiones + Examen</a:t>
            </a:r>
            <a:endParaRPr lang="es-ES_tradnl" sz="16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400" dirty="0">
                <a:cs typeface="Times New Roman" pitchFamily="18" charset="0"/>
              </a:rPr>
              <a:t>Entrada y Salida</a:t>
            </a:r>
            <a:endParaRPr lang="es-ES_tradnl" sz="14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600" dirty="0">
                <a:cs typeface="Times New Roman" pitchFamily="18" charset="0"/>
              </a:rPr>
              <a:t>Herramienta utilizada: RARS</a:t>
            </a:r>
          </a:p>
          <a:p>
            <a:pPr marL="666750" indent="0" algn="just">
              <a:buFontTx/>
              <a:buNone/>
            </a:pPr>
            <a:endParaRPr lang="es-ES" sz="14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2000" b="1" dirty="0">
                <a:cs typeface="Times New Roman" pitchFamily="18" charset="0"/>
              </a:rPr>
              <a:t>Práctica 5. </a:t>
            </a:r>
          </a:p>
          <a:p>
            <a:pPr marL="666750" indent="0" algn="just">
              <a:buFontTx/>
              <a:buNone/>
            </a:pPr>
            <a:r>
              <a:rPr lang="es-ES" sz="1800" b="1" dirty="0">
                <a:cs typeface="Times New Roman" pitchFamily="18" charset="0"/>
              </a:rPr>
              <a:t>2 sesiones</a:t>
            </a:r>
            <a:endParaRPr lang="es-ES_tradnl" sz="1800" b="1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400" dirty="0">
                <a:cs typeface="Times New Roman" pitchFamily="18" charset="0"/>
              </a:rPr>
              <a:t>Entrada y Salida (real)</a:t>
            </a:r>
            <a:endParaRPr lang="es-ES_tradnl" sz="14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600" dirty="0">
                <a:cs typeface="Times New Roman" pitchFamily="18" charset="0"/>
              </a:rPr>
              <a:t>Herramienta utilizada:  ESP32, Arduino</a:t>
            </a:r>
            <a:r>
              <a:rPr lang="es-ES" sz="1600" dirty="0"/>
              <a:t> IDE</a:t>
            </a:r>
          </a:p>
          <a:p>
            <a:pPr marL="666750" indent="0" algn="just">
              <a:buFontTx/>
              <a:buNone/>
            </a:pPr>
            <a:endParaRPr lang="es-ES" sz="1600" dirty="0">
              <a:cs typeface="Times New Roman" pitchFamily="18" charset="0"/>
            </a:endParaRPr>
          </a:p>
          <a:p>
            <a:pPr marL="666750" indent="0" algn="just">
              <a:buFontTx/>
              <a:buNone/>
            </a:pPr>
            <a:r>
              <a:rPr lang="es-ES" sz="1600" dirty="0">
                <a:cs typeface="Times New Roman" pitchFamily="18" charset="0"/>
              </a:rPr>
              <a:t> </a:t>
            </a:r>
          </a:p>
          <a:p>
            <a:pPr marL="666750" indent="0" algn="just">
              <a:buFontTx/>
              <a:buNone/>
            </a:pP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155839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Evaluación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1"/>
          </p:nvPr>
        </p:nvSpPr>
        <p:spPr>
          <a:xfrm>
            <a:off x="457200" y="1484784"/>
            <a:ext cx="8229600" cy="4937760"/>
          </a:xfrm>
        </p:spPr>
        <p:txBody>
          <a:bodyPr>
            <a:normAutofit fontScale="92500" lnSpcReduction="20000"/>
          </a:bodyPr>
          <a:lstStyle/>
          <a:p>
            <a:r>
              <a:rPr lang="es-ES" dirty="0"/>
              <a:t>Grupos grandes ≈ teoría</a:t>
            </a:r>
          </a:p>
          <a:p>
            <a:pPr lvl="1"/>
            <a:r>
              <a:rPr lang="es-ES" dirty="0"/>
              <a:t>1.5p     Test tema 2 (17 de marzo) </a:t>
            </a:r>
            <a:r>
              <a:rPr lang="es-ES" baseline="30000" dirty="0"/>
              <a:t>(I)</a:t>
            </a:r>
          </a:p>
          <a:p>
            <a:pPr lvl="1"/>
            <a:r>
              <a:rPr lang="es-ES" dirty="0"/>
              <a:t>1.5p     Test tema 4 (28 de abril) </a:t>
            </a:r>
            <a:r>
              <a:rPr lang="es-ES" baseline="30000" dirty="0"/>
              <a:t>(I)</a:t>
            </a:r>
          </a:p>
          <a:p>
            <a:pPr lvl="1"/>
            <a:r>
              <a:rPr lang="es-ES" dirty="0"/>
              <a:t>1.0p     Test tema 5 (14 de mayo) </a:t>
            </a:r>
            <a:r>
              <a:rPr lang="es-ES" baseline="30000" dirty="0"/>
              <a:t>(I)</a:t>
            </a:r>
            <a:endParaRPr lang="es-ES" dirty="0"/>
          </a:p>
          <a:p>
            <a:pPr lvl="1"/>
            <a:r>
              <a:rPr lang="es-ES" dirty="0"/>
              <a:t>3.5p     Examen final en fecha oficial (5 de junio) </a:t>
            </a:r>
            <a:r>
              <a:rPr lang="es-ES" baseline="30000" dirty="0"/>
              <a:t>(II)</a:t>
            </a:r>
          </a:p>
          <a:p>
            <a:pPr lvl="5"/>
            <a:r>
              <a:rPr lang="es-ES" dirty="0"/>
              <a:t>Temas 3,6, recuperación 2, 4 y 5</a:t>
            </a:r>
          </a:p>
          <a:p>
            <a:pPr lvl="5"/>
            <a:r>
              <a:rPr lang="es-ES" dirty="0"/>
              <a:t>Test sobre las prácticas</a:t>
            </a:r>
          </a:p>
          <a:p>
            <a:endParaRPr lang="es-ES" dirty="0"/>
          </a:p>
          <a:p>
            <a:r>
              <a:rPr lang="es-ES" dirty="0"/>
              <a:t>Grupos reducidos ≈ prácticas (25%)</a:t>
            </a:r>
          </a:p>
          <a:p>
            <a:pPr lvl="1"/>
            <a:r>
              <a:rPr lang="es-ES" dirty="0"/>
              <a:t>2.5p     Entrega de prácticas 1 a 4 (plataforma virtual GUAC) </a:t>
            </a:r>
            <a:r>
              <a:rPr lang="es-ES" baseline="30000" dirty="0"/>
              <a:t>(III)</a:t>
            </a:r>
            <a:endParaRPr lang="es-ES" dirty="0"/>
          </a:p>
          <a:p>
            <a:pPr marL="274320" lvl="1" indent="0">
              <a:buNone/>
            </a:pPr>
            <a:endParaRPr lang="es-ES" dirty="0"/>
          </a:p>
          <a:p>
            <a:pPr marL="788670" lvl="1" indent="-514350">
              <a:buFont typeface="+mj-lt"/>
              <a:buAutoNum type="romanUcPeriod"/>
            </a:pPr>
            <a:r>
              <a:rPr lang="es-ES" dirty="0"/>
              <a:t>Elimina con 6/10. Recuperable en examen final</a:t>
            </a:r>
          </a:p>
          <a:p>
            <a:pPr marL="788670" lvl="1" indent="-514350">
              <a:buFont typeface="+mj-lt"/>
              <a:buAutoNum type="romanUcPeriod"/>
            </a:pPr>
            <a:r>
              <a:rPr lang="es-ES" dirty="0"/>
              <a:t>El examen final de teoría consiste típicamente en un test, dos ejercicios largos y tres o cuatro ejercicios cortos. Unas dos horas.</a:t>
            </a:r>
          </a:p>
          <a:p>
            <a:pPr marL="788670" lvl="1" indent="-514350">
              <a:buFont typeface="+mj-lt"/>
              <a:buAutoNum type="romanUcPeriod"/>
            </a:pPr>
            <a:r>
              <a:rPr lang="es-ES" dirty="0"/>
              <a:t>El peso relativo de las prácticas es: 0.5/</a:t>
            </a:r>
            <a:r>
              <a:rPr lang="es-ES" dirty="0" err="1"/>
              <a:t>pr</a:t>
            </a:r>
            <a:endParaRPr lang="es-ES" dirty="0"/>
          </a:p>
          <a:p>
            <a:pPr lvl="1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3177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/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3" y="1859191"/>
            <a:ext cx="5485714" cy="3657143"/>
          </a:xfrm>
        </p:spPr>
      </p:pic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Distribución de la evaluación</a:t>
            </a:r>
          </a:p>
        </p:txBody>
      </p:sp>
    </p:spTree>
    <p:extLst>
      <p:ext uri="{BB962C8B-B14F-4D97-AF65-F5344CB8AC3E}">
        <p14:creationId xmlns:p14="http://schemas.microsoft.com/office/powerpoint/2010/main" val="1503123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Distribución de la evaluación (bloques)</a:t>
            </a:r>
          </a:p>
        </p:txBody>
      </p:sp>
      <p:pic>
        <p:nvPicPr>
          <p:cNvPr id="3" name="Marcador de contenido 2"/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3" y="1859191"/>
            <a:ext cx="5485714" cy="3657143"/>
          </a:xfr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9258B3C-235D-4AD6-AE47-6995C48E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744" y="1916832"/>
            <a:ext cx="4881388" cy="36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39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Distribución de la evaluación (prácticas)</a:t>
            </a:r>
          </a:p>
        </p:txBody>
      </p:sp>
      <p:pic>
        <p:nvPicPr>
          <p:cNvPr id="5" name="Marcador de contenido 4"/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3" y="1859191"/>
            <a:ext cx="5485714" cy="3657143"/>
          </a:xfr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2F4D04F-2159-4734-8AB3-E710DA6B8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173" y="1809250"/>
            <a:ext cx="4935654" cy="3741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8954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dirty="0"/>
              <a:t>Distribución de la evaluación (parcial/final)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5E1C221-23A7-4D4C-A639-BDD4BDB55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728" y="1772816"/>
            <a:ext cx="5246372" cy="387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160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s-ES" dirty="0"/>
              <a:t>Se aprueba sumando 5</a:t>
            </a:r>
          </a:p>
          <a:p>
            <a:pPr lvl="1"/>
            <a:r>
              <a:rPr lang="es-ES" sz="2400" dirty="0"/>
              <a:t>Hay que puntuar un mínimo en los cuatro bloques temáticos </a:t>
            </a:r>
          </a:p>
          <a:p>
            <a:pPr lvl="3"/>
            <a:r>
              <a:rPr lang="es-ES" sz="1900" dirty="0"/>
              <a:t>Tema 2, mínimo 30%</a:t>
            </a:r>
          </a:p>
          <a:p>
            <a:pPr lvl="3"/>
            <a:r>
              <a:rPr lang="es-ES" sz="1900" dirty="0"/>
              <a:t>Tema 3, mínimo 35%</a:t>
            </a:r>
          </a:p>
          <a:p>
            <a:pPr lvl="3"/>
            <a:r>
              <a:rPr lang="es-ES" sz="1900" dirty="0"/>
              <a:t>Tema 4, mínimo 30%</a:t>
            </a:r>
          </a:p>
          <a:p>
            <a:pPr lvl="3"/>
            <a:r>
              <a:rPr lang="es-ES" sz="1900" dirty="0"/>
              <a:t>Temas 5 y 6, mínimo 30%</a:t>
            </a:r>
          </a:p>
          <a:p>
            <a:r>
              <a:rPr lang="es-ES" sz="2700" dirty="0"/>
              <a:t>En las prácticas</a:t>
            </a:r>
          </a:p>
          <a:p>
            <a:pPr lvl="1"/>
            <a:r>
              <a:rPr lang="es-ES" sz="2400" dirty="0"/>
              <a:t>En junio</a:t>
            </a:r>
          </a:p>
          <a:p>
            <a:pPr lvl="2"/>
            <a:r>
              <a:rPr lang="es-ES" sz="2100" dirty="0"/>
              <a:t>Para aprobar hay que realizar al menos 3 de las 5 prácticas, incluyendo la práctica 5</a:t>
            </a:r>
          </a:p>
          <a:p>
            <a:pPr lvl="1"/>
            <a:r>
              <a:rPr lang="es-ES" sz="2400" dirty="0"/>
              <a:t>En septiembre o extraordinarias</a:t>
            </a:r>
          </a:p>
          <a:p>
            <a:pPr lvl="2"/>
            <a:r>
              <a:rPr lang="es-ES" sz="2100" dirty="0"/>
              <a:t>Los profesores deciden para cada caso particular</a:t>
            </a:r>
          </a:p>
          <a:p>
            <a:pPr lvl="1"/>
            <a:endParaRPr lang="es-ES" sz="2400" dirty="0"/>
          </a:p>
          <a:p>
            <a:endParaRPr lang="es-ES" dirty="0"/>
          </a:p>
          <a:p>
            <a:pPr lvl="1"/>
            <a:endParaRPr lang="es-ES" dirty="0"/>
          </a:p>
        </p:txBody>
      </p:sp>
      <p:sp>
        <p:nvSpPr>
          <p:cNvPr id="4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Requisitos mínimos (para el final)</a:t>
            </a:r>
          </a:p>
        </p:txBody>
      </p:sp>
    </p:spTree>
    <p:extLst>
      <p:ext uri="{BB962C8B-B14F-4D97-AF65-F5344CB8AC3E}">
        <p14:creationId xmlns:p14="http://schemas.microsoft.com/office/powerpoint/2010/main" val="3758244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¿Qué pasa en septiembre?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s-ES" dirty="0"/>
              <a:t>Único examen de teoría (70% </a:t>
            </a:r>
            <a:r>
              <a:rPr lang="es-ES" dirty="0" err="1"/>
              <a:t>casium</a:t>
            </a:r>
            <a:r>
              <a:rPr lang="es-ES" dirty="0"/>
              <a:t>)</a:t>
            </a:r>
          </a:p>
          <a:p>
            <a:r>
              <a:rPr lang="es-ES" dirty="0"/>
              <a:t>Prácticas (30%)</a:t>
            </a:r>
          </a:p>
          <a:p>
            <a:pPr lvl="1"/>
            <a:r>
              <a:rPr lang="es-ES" dirty="0"/>
              <a:t>Si se han aprobado las prácticas, se mantiene la nota</a:t>
            </a:r>
          </a:p>
          <a:p>
            <a:pPr lvl="2"/>
            <a:r>
              <a:rPr lang="es-ES" dirty="0"/>
              <a:t>Puede optar a mejora</a:t>
            </a:r>
          </a:p>
          <a:p>
            <a:pPr lvl="1"/>
            <a:r>
              <a:rPr lang="es-ES" dirty="0"/>
              <a:t>Si no se han aprobado</a:t>
            </a:r>
          </a:p>
          <a:p>
            <a:pPr lvl="2"/>
            <a:r>
              <a:rPr lang="es-ES" dirty="0"/>
              <a:t>Examen personalizado en laboratorio</a:t>
            </a:r>
          </a:p>
          <a:p>
            <a:pPr lvl="3"/>
            <a:r>
              <a:rPr lang="es-ES" dirty="0"/>
              <a:t>Se ofrecerá la oportunidad de practicar con placas previo al examen.</a:t>
            </a:r>
          </a:p>
        </p:txBody>
      </p:sp>
    </p:spTree>
    <p:extLst>
      <p:ext uri="{BB962C8B-B14F-4D97-AF65-F5344CB8AC3E}">
        <p14:creationId xmlns:p14="http://schemas.microsoft.com/office/powerpoint/2010/main" val="640958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En resumen: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quarter" idx="1"/>
          </p:nvPr>
        </p:nvSpPr>
        <p:spPr>
          <a:xfrm>
            <a:off x="446486" y="1484784"/>
            <a:ext cx="8229600" cy="4937760"/>
          </a:xfrm>
        </p:spPr>
        <p:txBody>
          <a:bodyPr/>
          <a:lstStyle/>
          <a:p>
            <a:r>
              <a:rPr lang="es-ES" dirty="0"/>
              <a:t>Hay que hacer las prácticas, sí o sí.</a:t>
            </a:r>
          </a:p>
          <a:p>
            <a:r>
              <a:rPr lang="es-ES" dirty="0"/>
              <a:t>Es posible eliminar 6.5 puntos antes del final</a:t>
            </a:r>
          </a:p>
          <a:p>
            <a:r>
              <a:rPr lang="es-ES" dirty="0"/>
              <a:t>El 95% se evalúa automáticamente por CV/</a:t>
            </a:r>
            <a:r>
              <a:rPr lang="es-ES" dirty="0" err="1"/>
              <a:t>Casium</a:t>
            </a:r>
            <a:endParaRPr lang="es-ES" dirty="0"/>
          </a:p>
          <a:p>
            <a:r>
              <a:rPr lang="es-ES" dirty="0"/>
              <a:t>El 95% es valorado individualmente. El resto, por parejas o grupos de prácticas</a:t>
            </a:r>
          </a:p>
          <a:p>
            <a:pPr marL="0" indent="0">
              <a:buNone/>
            </a:pPr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6626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/>
          <a:lstStyle/>
          <a:p>
            <a:r>
              <a:rPr lang="es-ES_tradnl" sz="3600"/>
              <a:t>Bibliografía</a:t>
            </a:r>
            <a:endParaRPr lang="es-ES" sz="3600"/>
          </a:p>
        </p:txBody>
      </p:sp>
      <p:pic>
        <p:nvPicPr>
          <p:cNvPr id="5" name="Imagen 4" descr="https://images-na.ssl-images-amazon.com/images/I/51Td8wQuHbL._SX258_BO1,204,203,200_.jp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92" y="1412776"/>
            <a:ext cx="1348105" cy="1638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B36F26F3-8398-4C8A-9AC6-E68A29282242}"/>
              </a:ext>
            </a:extLst>
          </p:cNvPr>
          <p:cNvGrpSpPr/>
          <p:nvPr/>
        </p:nvGrpSpPr>
        <p:grpSpPr>
          <a:xfrm>
            <a:off x="457200" y="1401771"/>
            <a:ext cx="7142224" cy="4370751"/>
            <a:chOff x="457200" y="1401771"/>
            <a:chExt cx="7142224" cy="4370751"/>
          </a:xfrm>
        </p:grpSpPr>
        <p:pic>
          <p:nvPicPr>
            <p:cNvPr id="6" name="Imagen 5" descr="https://images-na.ssl-images-amazon.com/images/I/51u3S-FJ2QL._SX258_BO1,204,203,200_.jpg"/>
            <p:cNvPicPr/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3280" y="1412776"/>
              <a:ext cx="1296144" cy="1638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Imagen 6"/>
            <p:cNvPicPr/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5976" y="1412776"/>
              <a:ext cx="1203581" cy="1638300"/>
            </a:xfrm>
            <a:prstGeom prst="rect">
              <a:avLst/>
            </a:prstGeom>
          </p:spPr>
        </p:pic>
        <p:pic>
          <p:nvPicPr>
            <p:cNvPr id="8" name="Imagen 7" descr="http://2.bp.blogspot.com/-JvCIqxlnH0c/VCskAaDZ06I/AAAAAAAAWiA/2kVFpQ92vKQ/s1600/Organizacion%2By%2Barquitectura%2Bde%2Bcomputadores,%2B7ma%2BEd-FREELIBROS.ORG.jpg"/>
            <p:cNvPicPr/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899" y="4077072"/>
              <a:ext cx="1322705" cy="1695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Imagen 8" descr="https://sgfm.elcorteingles.es/SGFM/dctm/IMAGENES/201110/07_1/00106530809190___P1_600x600.jpg"/>
            <p:cNvPicPr/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32" t="8500" r="18500" b="18666"/>
            <a:stretch/>
          </p:blipFill>
          <p:spPr bwMode="auto">
            <a:xfrm>
              <a:off x="2396992" y="4078054"/>
              <a:ext cx="1331719" cy="1658620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10" name="Imagen 9" descr="https://4.bp.blogspot.com/-v9ZfWRxXb6s/VwP9fjLwRdI/AAAAAAAABZ0/VkxEh8dmerAwCVX2KaWHGuG-HsEhAgvRg/s320/fundamentos%2Bdise%25C3%25B1o%2Blogico.PNG"/>
            <p:cNvPicPr/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72361" y="4078054"/>
              <a:ext cx="1285875" cy="165862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Imagen 10" descr="https://images-na.ssl-images-amazon.com/images/I/51pH7LRZkZL._SX258_BO1,204,203,200_.jpg"/>
            <p:cNvPicPr/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95769" y="4077072"/>
              <a:ext cx="1303655" cy="16097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Imagen 2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7200" y="1401771"/>
              <a:ext cx="1450504" cy="166030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"/>
                                      </p:to>
                                    </p:set>
                                    <p:animEffect filter="image" prLst="opacity: 0">
                                      <p:cBhvr rctx="IE">
                                        <p:cTn id="7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5"/>
                                        </p:tgtEl>
                                      </p:cBhvr>
                                      <p:by x="250000" y="250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406 -0.02037 L 0.12726 0.22963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566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/>
          <a:lstStyle/>
          <a:p>
            <a:r>
              <a:rPr lang="es-ES_tradnl" sz="3600"/>
              <a:t>Bibliografía</a:t>
            </a:r>
            <a:endParaRPr lang="es-ES" sz="3600"/>
          </a:p>
        </p:txBody>
      </p:sp>
      <p:pic>
        <p:nvPicPr>
          <p:cNvPr id="1026" name="Picture 2" descr="Github Logo, Open Source, Collaboration Icon, Code Sharing, Version Control  PNG">
            <a:extLst>
              <a:ext uri="{FF2B5EF4-FFF2-40B4-BE49-F238E27FC236}">
                <a16:creationId xmlns:a16="http://schemas.microsoft.com/office/drawing/2014/main" id="{5A91CB45-7C4F-419E-9F9F-49D05FB80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872208"/>
            <a:ext cx="1168393" cy="1144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DF97AC6-FF7C-4B43-B4A7-1CBFD09DD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1772816"/>
            <a:ext cx="1296144" cy="1296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emini icon logo PNG and vector files (svg, eps) - Brandlogos.net">
            <a:extLst>
              <a:ext uri="{FF2B5EF4-FFF2-40B4-BE49-F238E27FC236}">
                <a16:creationId xmlns:a16="http://schemas.microsoft.com/office/drawing/2014/main" id="{5A5A8E2E-320E-45D1-82A5-378AB8D67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257" y="1729044"/>
            <a:ext cx="1486066" cy="1486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icrosoft Copilot Logo (chatbot | 01)">
            <a:extLst>
              <a:ext uri="{FF2B5EF4-FFF2-40B4-BE49-F238E27FC236}">
                <a16:creationId xmlns:a16="http://schemas.microsoft.com/office/drawing/2014/main" id="{F8905431-019D-44FD-B211-87C37DD5B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4" y="3217101"/>
            <a:ext cx="3480048" cy="2175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erplexity icon - Free Download PNG &amp; SVG | Streamline">
            <a:extLst>
              <a:ext uri="{FF2B5EF4-FFF2-40B4-BE49-F238E27FC236}">
                <a16:creationId xmlns:a16="http://schemas.microsoft.com/office/drawing/2014/main" id="{2D46CDF1-0C0B-4402-B120-2E73C8CC4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208" y="1626665"/>
            <a:ext cx="1588445" cy="1588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Claude Descargas gratuitas de SVG, P... · LobeHub">
            <a:extLst>
              <a:ext uri="{FF2B5EF4-FFF2-40B4-BE49-F238E27FC236}">
                <a16:creationId xmlns:a16="http://schemas.microsoft.com/office/drawing/2014/main" id="{9BBF97C2-59B2-43C6-A969-58243AB0A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716720"/>
            <a:ext cx="1175792" cy="1175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DD5D54C0-CF12-4A08-B48B-34131BC4A7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5217" y="3483150"/>
            <a:ext cx="1406426" cy="1409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1733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/>
          </p:cNvSpPr>
          <p:nvPr>
            <p:ph type="ctrTitle" idx="4294967295"/>
          </p:nvPr>
        </p:nvSpPr>
        <p:spPr>
          <a:xfrm>
            <a:off x="755650" y="476251"/>
            <a:ext cx="7772400" cy="720502"/>
          </a:xfrm>
        </p:spPr>
        <p:txBody>
          <a:bodyPr/>
          <a:lstStyle/>
          <a:p>
            <a:pPr eaLnBrk="1" hangingPunct="1"/>
            <a:r>
              <a:rPr lang="es-ES" dirty="0"/>
              <a:t>Antes de empezar</a:t>
            </a:r>
          </a:p>
        </p:txBody>
      </p:sp>
      <p:sp>
        <p:nvSpPr>
          <p:cNvPr id="21506" name="Rectangle 3"/>
          <p:cNvSpPr>
            <a:spLocks noGrp="1"/>
          </p:cNvSpPr>
          <p:nvPr>
            <p:ph type="subTitle" idx="4294967295"/>
          </p:nvPr>
        </p:nvSpPr>
        <p:spPr>
          <a:xfrm>
            <a:off x="1441450" y="1293465"/>
            <a:ext cx="6400800" cy="1752600"/>
          </a:xfrm>
        </p:spPr>
        <p:txBody>
          <a:bodyPr/>
          <a:lstStyle/>
          <a:p>
            <a:pPr marL="0" indent="0" algn="ctr" eaLnBrk="1" hangingPunct="1">
              <a:buFont typeface="Wingdings 3" pitchFamily="18" charset="2"/>
              <a:buNone/>
            </a:pPr>
            <a:r>
              <a:rPr lang="es-ES" sz="4300" dirty="0"/>
              <a:t>¿QUÉ CREÉIS QUE ES UN COMPUTADOR?</a:t>
            </a:r>
          </a:p>
        </p:txBody>
      </p:sp>
      <p:pic>
        <p:nvPicPr>
          <p:cNvPr id="4" name="Picture 2" descr="File:Universal Turing machine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2643156"/>
            <a:ext cx="5040560" cy="2337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2D118EE-C8BE-4174-A652-F4741405F785}"/>
              </a:ext>
            </a:extLst>
          </p:cNvPr>
          <p:cNvSpPr txBox="1"/>
          <p:nvPr/>
        </p:nvSpPr>
        <p:spPr>
          <a:xfrm>
            <a:off x="163488" y="5304531"/>
            <a:ext cx="881702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1600" b="0" dirty="0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Una tarea es computable si puede ser realizada por una máquina de Turing de cinta infinita, mediante un conjunto finito de las reglas que determinan cómo el lector se desplaza y cambia el estado de la máquina en función del símbolo que lee en cada momento.</a:t>
            </a:r>
          </a:p>
        </p:txBody>
      </p:sp>
    </p:spTree>
    <p:extLst>
      <p:ext uri="{BB962C8B-B14F-4D97-AF65-F5344CB8AC3E}">
        <p14:creationId xmlns:p14="http://schemas.microsoft.com/office/powerpoint/2010/main" val="40829880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s-ES"/>
              <a:t>Antes de empezar</a:t>
            </a:r>
          </a:p>
        </p:txBody>
      </p:sp>
      <p:sp>
        <p:nvSpPr>
          <p:cNvPr id="22530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r>
              <a:rPr lang="es-ES" b="1" dirty="0"/>
              <a:t>Una posible definición de computador</a:t>
            </a:r>
            <a:r>
              <a:rPr lang="es-ES" dirty="0"/>
              <a:t>: </a:t>
            </a:r>
          </a:p>
          <a:p>
            <a:pPr eaLnBrk="1" hangingPunct="1"/>
            <a:r>
              <a:rPr lang="es-ES" dirty="0"/>
              <a:t>Maquina automática para la resolución de problemas genéricos mediante el almacenamiento, transmisión y  transformación de la información. </a:t>
            </a:r>
          </a:p>
          <a:p>
            <a:pPr eaLnBrk="1" hangingPunct="1"/>
            <a:r>
              <a:rPr lang="es-ES" dirty="0"/>
              <a:t>Es “genérico” gracias a la separación hardware-software. Los programas (software) dicen lo que hay que hacer (el problema a resolver) y el computador (hardware) lo ejecuta.</a:t>
            </a:r>
          </a:p>
          <a:p>
            <a:pPr eaLnBrk="1" hangingPunct="1"/>
            <a:r>
              <a:rPr lang="es-ES" dirty="0"/>
              <a:t>¿Ejemplos de máquinas programables? </a:t>
            </a:r>
          </a:p>
        </p:txBody>
      </p:sp>
      <p:pic>
        <p:nvPicPr>
          <p:cNvPr id="1028" name="Picture 4" descr="http://upload.wikimedia.org/wikipedia/commons/0/09/Jacquard.loom.cards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192" y="4221088"/>
            <a:ext cx="1923459" cy="2572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utèce Création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330000"/>
              </a:clrFrom>
              <a:clrTo>
                <a:srgbClr val="33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889" b="90000" l="5500" r="9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349" y="4869160"/>
            <a:ext cx="2376264" cy="2138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2034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s-ES"/>
              <a:t>Antes de empezar</a:t>
            </a:r>
          </a:p>
        </p:txBody>
      </p:sp>
      <p:sp>
        <p:nvSpPr>
          <p:cNvPr id="23554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r>
              <a:rPr lang="es-ES" sz="2400" b="1" dirty="0"/>
              <a:t>Sabemos hacer un programa (C++, Matlab, Python)</a:t>
            </a:r>
            <a:endParaRPr lang="es-ES" b="1" dirty="0"/>
          </a:p>
          <a:p>
            <a:pPr eaLnBrk="1" hangingPunct="1"/>
            <a:r>
              <a:rPr lang="es-ES" sz="2400" b="1" dirty="0"/>
              <a:t>Cuestiones</a:t>
            </a:r>
            <a:r>
              <a:rPr lang="es-ES" sz="2400" dirty="0"/>
              <a:t>:</a:t>
            </a:r>
          </a:p>
          <a:p>
            <a:pPr lvl="1"/>
            <a:r>
              <a:rPr lang="es-ES" sz="2800" dirty="0"/>
              <a:t>¿Qué es, </a:t>
            </a:r>
            <a:r>
              <a:rPr lang="es-ES" sz="2800" b="1" dirty="0"/>
              <a:t>físicamente</a:t>
            </a:r>
            <a:r>
              <a:rPr lang="es-ES" sz="2800" dirty="0"/>
              <a:t>, el software?</a:t>
            </a:r>
          </a:p>
          <a:p>
            <a:pPr lvl="1"/>
            <a:r>
              <a:rPr lang="es-ES" sz="2800" dirty="0"/>
              <a:t>¿Cómo se pasa de tener un programa escrito en lenguaje de alto nivel a que éste se ejecute en un circuito electrónico, obtengamos los resultados,  y los visualicemos? </a:t>
            </a:r>
          </a:p>
        </p:txBody>
      </p:sp>
    </p:spTree>
    <p:extLst>
      <p:ext uri="{BB962C8B-B14F-4D97-AF65-F5344CB8AC3E}">
        <p14:creationId xmlns:p14="http://schemas.microsoft.com/office/powerpoint/2010/main" val="3784971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s-ES"/>
              <a:t>Antes de empezar</a:t>
            </a:r>
          </a:p>
        </p:txBody>
      </p:sp>
      <p:sp>
        <p:nvSpPr>
          <p:cNvPr id="24578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>
              <a:buFont typeface="Wingdings 3" pitchFamily="18" charset="2"/>
              <a:buNone/>
            </a:pPr>
            <a:r>
              <a:rPr lang="es-ES" sz="3000" dirty="0"/>
              <a:t>Algunas cuestiones de alto nivel de abstracción</a:t>
            </a:r>
          </a:p>
          <a:p>
            <a:endParaRPr lang="es-ES" dirty="0"/>
          </a:p>
          <a:p>
            <a:r>
              <a:rPr lang="es-ES" dirty="0"/>
              <a:t>Qué partes fundamentales tiene un computador y para qué sirven?</a:t>
            </a:r>
          </a:p>
          <a:p>
            <a:r>
              <a:rPr lang="es-ES" dirty="0"/>
              <a:t>Como se almacena la información en el computador?</a:t>
            </a:r>
          </a:p>
          <a:p>
            <a:r>
              <a:rPr lang="es-ES" dirty="0"/>
              <a:t>Qué es el sistema operativo y para qué sirve?</a:t>
            </a:r>
          </a:p>
        </p:txBody>
      </p:sp>
    </p:spTree>
    <p:extLst>
      <p:ext uri="{BB962C8B-B14F-4D97-AF65-F5344CB8AC3E}">
        <p14:creationId xmlns:p14="http://schemas.microsoft.com/office/powerpoint/2010/main" val="824900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s-ES"/>
              <a:t>Antes de empezar</a:t>
            </a:r>
          </a:p>
        </p:txBody>
      </p:sp>
      <p:sp>
        <p:nvSpPr>
          <p:cNvPr id="56323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Algunas cuestiones sobre la ejecución de un programa</a:t>
            </a:r>
          </a:p>
          <a:p>
            <a:endParaRPr lang="es-ES" dirty="0"/>
          </a:p>
          <a:p>
            <a:r>
              <a:rPr lang="es-ES" dirty="0"/>
              <a:t>Qué ocurre cuando compilamos un programa? </a:t>
            </a:r>
          </a:p>
          <a:p>
            <a:r>
              <a:rPr lang="es-ES" dirty="0"/>
              <a:t>Y cuando lo ejecutamos?</a:t>
            </a:r>
          </a:p>
          <a:p>
            <a:r>
              <a:rPr lang="es-ES" dirty="0"/>
              <a:t>Qué y cómo lo ejecuta el computador?</a:t>
            </a:r>
          </a:p>
          <a:p>
            <a:r>
              <a:rPr lang="es-ES" dirty="0"/>
              <a:t>Como sabemos que se está ejecutando un programa?</a:t>
            </a:r>
          </a:p>
        </p:txBody>
      </p:sp>
    </p:spTree>
    <p:extLst>
      <p:ext uri="{BB962C8B-B14F-4D97-AF65-F5344CB8AC3E}">
        <p14:creationId xmlns:p14="http://schemas.microsoft.com/office/powerpoint/2010/main" val="1925257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es-ES"/>
              <a:t>Antes de empezar</a:t>
            </a:r>
          </a:p>
        </p:txBody>
      </p:sp>
      <p:sp>
        <p:nvSpPr>
          <p:cNvPr id="55299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Cuestiones de bajo nivel (de abstracción)</a:t>
            </a:r>
          </a:p>
          <a:p>
            <a:endParaRPr lang="es-ES" dirty="0"/>
          </a:p>
          <a:p>
            <a:r>
              <a:rPr lang="es-ES" dirty="0"/>
              <a:t>Porqué es importante la frecuencia del reloj, el número de cores y la cantidad de memoria RAM para determinar lo bueno que es un computador?</a:t>
            </a:r>
          </a:p>
          <a:p>
            <a:r>
              <a:rPr lang="es-ES" dirty="0"/>
              <a:t>Que es (físicamente) una variable de un programa?</a:t>
            </a:r>
          </a:p>
          <a:p>
            <a:r>
              <a:rPr lang="es-ES" dirty="0"/>
              <a:t>Como podemos relacionar los circuitos digitales con la ejecución de un programa? </a:t>
            </a:r>
          </a:p>
        </p:txBody>
      </p:sp>
    </p:spTree>
    <p:extLst>
      <p:ext uri="{BB962C8B-B14F-4D97-AF65-F5344CB8AC3E}">
        <p14:creationId xmlns:p14="http://schemas.microsoft.com/office/powerpoint/2010/main" val="199524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2"/>
          <p:cNvSpPr>
            <a:spLocks noGrp="1"/>
          </p:cNvSpPr>
          <p:nvPr>
            <p:ph type="title" idx="4294967295"/>
          </p:nvPr>
        </p:nvSpPr>
        <p:spPr>
          <a:xfrm>
            <a:off x="539552" y="1052736"/>
            <a:ext cx="8229600" cy="450304"/>
          </a:xfrm>
        </p:spPr>
        <p:txBody>
          <a:bodyPr>
            <a:normAutofit fontScale="90000"/>
          </a:bodyPr>
          <a:lstStyle/>
          <a:p>
            <a:r>
              <a:rPr lang="es-ES" dirty="0"/>
              <a:t>Objetivo del curso</a:t>
            </a:r>
            <a:br>
              <a:rPr lang="es-ES" dirty="0"/>
            </a:br>
            <a:endParaRPr lang="es-ES" dirty="0"/>
          </a:p>
        </p:txBody>
      </p:sp>
      <p:sp>
        <p:nvSpPr>
          <p:cNvPr id="24578" name="Rectangle 3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r>
              <a:rPr lang="es-ES" dirty="0"/>
              <a:t>Para el alumno</a:t>
            </a:r>
          </a:p>
          <a:p>
            <a:pPr lvl="1"/>
            <a:r>
              <a:rPr lang="es-ES" dirty="0"/>
              <a:t>Satisface una curiosidad (innata?)</a:t>
            </a:r>
          </a:p>
          <a:p>
            <a:pPr lvl="1"/>
            <a:r>
              <a:rPr lang="es-ES" dirty="0"/>
              <a:t>Es (intelectualmente) fascinante </a:t>
            </a:r>
          </a:p>
          <a:p>
            <a:pPr lvl="2"/>
            <a:r>
              <a:rPr lang="es-ES" dirty="0"/>
              <a:t>Saber cómo funciona el mundo actual	</a:t>
            </a:r>
          </a:p>
          <a:p>
            <a:pPr lvl="2"/>
            <a:r>
              <a:rPr lang="es-ES" dirty="0"/>
              <a:t>Saber porqué se rompen muchos dispositivos</a:t>
            </a:r>
          </a:p>
          <a:p>
            <a:pPr lvl="3"/>
            <a:r>
              <a:rPr lang="es-ES" dirty="0"/>
              <a:t>Cuáles son los fundamentos de Internet</a:t>
            </a:r>
          </a:p>
          <a:p>
            <a:pPr lvl="3"/>
            <a:r>
              <a:rPr lang="es-ES" dirty="0"/>
              <a:t>Qué hay detrás de la inteligencia artificial</a:t>
            </a:r>
          </a:p>
          <a:p>
            <a:pPr lvl="3"/>
            <a:r>
              <a:rPr lang="es-ES" dirty="0"/>
              <a:t>Porqué es relevante la computación cuántica</a:t>
            </a:r>
          </a:p>
          <a:p>
            <a:pPr lvl="1"/>
            <a:r>
              <a:rPr lang="es-ES" dirty="0"/>
              <a:t>Identificar qué es programable y cómo se hace</a:t>
            </a:r>
          </a:p>
          <a:p>
            <a:pPr lvl="1"/>
            <a:r>
              <a:rPr lang="es-ES" dirty="0"/>
              <a:t>Escribir mejores códigos y </a:t>
            </a:r>
            <a:r>
              <a:rPr lang="es-ES" dirty="0" err="1"/>
              <a:t>prompts</a:t>
            </a:r>
            <a:endParaRPr lang="es-ES" dirty="0"/>
          </a:p>
          <a:p>
            <a:pPr lvl="1"/>
            <a:r>
              <a:rPr lang="es-ES" dirty="0"/>
              <a:t>Diseñar sistemas de cómputo</a:t>
            </a:r>
          </a:p>
          <a:p>
            <a:r>
              <a:rPr lang="es-ES" dirty="0"/>
              <a:t>¿Y para el profesor?</a:t>
            </a:r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</p:txBody>
      </p:sp>
      <p:pic>
        <p:nvPicPr>
          <p:cNvPr id="2050" name="Picture 2" descr="http://www.cantanko.com/wp-content/uploads/2011/07/Time-Machine-Collage.jpg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4331902"/>
            <a:ext cx="2736304" cy="218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677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en">
  <a:themeElements>
    <a:clrScheme name="Orige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e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e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CE8D363D1A06C4A8E99892E111062E1" ma:contentTypeVersion="11" ma:contentTypeDescription="Crear nuevo documento." ma:contentTypeScope="" ma:versionID="bc7335ac6b45c3b24761353ffdff9b7a">
  <xsd:schema xmlns:xsd="http://www.w3.org/2001/XMLSchema" xmlns:xs="http://www.w3.org/2001/XMLSchema" xmlns:p="http://schemas.microsoft.com/office/2006/metadata/properties" xmlns:ns3="2d68f367-3448-4584-8be4-e5200f1a88eb" xmlns:ns4="b7216d0d-3061-4c5f-91f9-f9dbb705efc2" targetNamespace="http://schemas.microsoft.com/office/2006/metadata/properties" ma:root="true" ma:fieldsID="9890ec198a05d4ef84ee45e003419e1e" ns3:_="" ns4:_="">
    <xsd:import namespace="2d68f367-3448-4584-8be4-e5200f1a88eb"/>
    <xsd:import namespace="b7216d0d-3061-4c5f-91f9-f9dbb705efc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Location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8f367-3448-4584-8be4-e5200f1a88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Location" ma:index="12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216d0d-3061-4c5f-91f9-f9dbb705efc2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7792CB8-57C7-47F1-B9EF-BB12916B376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052234-4F05-44DE-9654-247F8CD78F7B}">
  <ds:schemaRefs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purl.org/dc/elements/1.1/"/>
    <ds:schemaRef ds:uri="http://purl.org/dc/dcmitype/"/>
    <ds:schemaRef ds:uri="http://schemas.microsoft.com/office/2006/metadata/properties"/>
    <ds:schemaRef ds:uri="b7216d0d-3061-4c5f-91f9-f9dbb705efc2"/>
    <ds:schemaRef ds:uri="http://schemas.openxmlformats.org/package/2006/metadata/core-properties"/>
    <ds:schemaRef ds:uri="2d68f367-3448-4584-8be4-e5200f1a88eb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27CE259D-98F5-43DE-B579-62838D2356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8f367-3448-4584-8be4-e5200f1a88eb"/>
    <ds:schemaRef ds:uri="b7216d0d-3061-4c5f-91f9-f9dbb705efc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0</TotalTime>
  <Words>1596</Words>
  <Application>Microsoft Office PowerPoint</Application>
  <PresentationFormat>Presentación en pantalla (4:3)</PresentationFormat>
  <Paragraphs>230</Paragraphs>
  <Slides>27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7" baseType="lpstr">
      <vt:lpstr>Arial</vt:lpstr>
      <vt:lpstr>Arial Narrow</vt:lpstr>
      <vt:lpstr>Bookman Old Style</vt:lpstr>
      <vt:lpstr>Calibri</vt:lpstr>
      <vt:lpstr>Consolas</vt:lpstr>
      <vt:lpstr>Gill Sans MT</vt:lpstr>
      <vt:lpstr>Malacitana</vt:lpstr>
      <vt:lpstr>Wingdings</vt:lpstr>
      <vt:lpstr>Wingdings 3</vt:lpstr>
      <vt:lpstr>Origen</vt:lpstr>
      <vt:lpstr>Fundamentos de Computadores Grado en Ingeniería en Tecnologías Industriales</vt:lpstr>
      <vt:lpstr>Datos </vt:lpstr>
      <vt:lpstr>Temario</vt:lpstr>
      <vt:lpstr>Organización en 4 bloques temáticos</vt:lpstr>
      <vt:lpstr>Lecciones</vt:lpstr>
      <vt:lpstr>Calendario curso 24/25</vt:lpstr>
      <vt:lpstr>Calendario curso 24/25</vt:lpstr>
      <vt:lpstr>Lecciones magistrales </vt:lpstr>
      <vt:lpstr>Prácticas </vt:lpstr>
      <vt:lpstr>Prácticas</vt:lpstr>
      <vt:lpstr>Evaluación</vt:lpstr>
      <vt:lpstr>Distribución de la evaluación</vt:lpstr>
      <vt:lpstr>Distribución de la evaluación (bloques)</vt:lpstr>
      <vt:lpstr>Distribución de la evaluación (prácticas)</vt:lpstr>
      <vt:lpstr>Distribución de la evaluación (parcial/final)</vt:lpstr>
      <vt:lpstr>Requisitos mínimos (para el final)</vt:lpstr>
      <vt:lpstr>¿Qué pasa en septiembre?</vt:lpstr>
      <vt:lpstr>En resumen:</vt:lpstr>
      <vt:lpstr>Bibliografía</vt:lpstr>
      <vt:lpstr>Bibliografía</vt:lpstr>
      <vt:lpstr>Antes de empezar</vt:lpstr>
      <vt:lpstr>Antes de empezar</vt:lpstr>
      <vt:lpstr>Antes de empezar</vt:lpstr>
      <vt:lpstr>Antes de empezar</vt:lpstr>
      <vt:lpstr>Antes de empezar</vt:lpstr>
      <vt:lpstr>Antes de empezar</vt:lpstr>
      <vt:lpstr>Objetivo del curso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2010-09-27T09:08:38Z</dcterms:created>
  <dcterms:modified xsi:type="dcterms:W3CDTF">2026-02-17T10:18:38Z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TC103732553082</vt:lpwstr>
  </property>
  <property fmtid="{D5CDD505-2E9C-101B-9397-08002B2CF9AE}" pid="3" name="ContentTypeId">
    <vt:lpwstr>0x0101004CE8D363D1A06C4A8E99892E111062E1</vt:lpwstr>
  </property>
</Properties>
</file>